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5" d="100"/>
          <a:sy n="75" d="100"/>
        </p:scale>
        <p:origin x="1478" y="4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3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image" Target="../media/image16.png"/><Relationship Id="rId16"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5.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6.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17.png"/><Relationship Id="rId7" Type="http://schemas.openxmlformats.org/officeDocument/2006/relationships/image" Target="../media/image52.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51.png"/><Relationship Id="rId10" Type="http://schemas.openxmlformats.org/officeDocument/2006/relationships/image" Target="../media/image55.png"/><Relationship Id="rId4" Type="http://schemas.openxmlformats.org/officeDocument/2006/relationships/image" Target="../media/image20.png"/><Relationship Id="rId9" Type="http://schemas.openxmlformats.org/officeDocument/2006/relationships/image" Target="../media/image54.png"/></Relationships>
</file>

<file path=ppt/slides/_rels/slide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857250" y="4801492"/>
            <a:ext cx="1638300" cy="390525"/>
          </a:xfrm>
          <a:prstGeom prst="rect">
            <a:avLst/>
          </a:prstGeom>
        </p:spPr>
      </p:pic>
      <p:pic>
        <p:nvPicPr>
          <p:cNvPr id="4" name="Picture 3" descr="image.png"/>
          <p:cNvPicPr>
            <a:picLocks noChangeAspect="1"/>
          </p:cNvPicPr>
          <p:nvPr/>
        </p:nvPicPr>
        <p:blipFill>
          <a:blip r:embed="rId4"/>
          <a:stretch>
            <a:fillRect/>
          </a:stretch>
        </p:blipFill>
        <p:spPr>
          <a:xfrm>
            <a:off x="2724150" y="4801492"/>
            <a:ext cx="1847850" cy="390525"/>
          </a:xfrm>
          <a:prstGeom prst="rect">
            <a:avLst/>
          </a:prstGeom>
        </p:spPr>
      </p:pic>
      <p:pic>
        <p:nvPicPr>
          <p:cNvPr id="5" name="Picture 4" descr="image.png"/>
          <p:cNvPicPr>
            <a:picLocks noChangeAspect="1"/>
          </p:cNvPicPr>
          <p:nvPr/>
        </p:nvPicPr>
        <p:blipFill>
          <a:blip r:embed="rId5"/>
          <a:stretch>
            <a:fillRect/>
          </a:stretch>
        </p:blipFill>
        <p:spPr>
          <a:xfrm>
            <a:off x="4800600" y="4801492"/>
            <a:ext cx="1352550" cy="390525"/>
          </a:xfrm>
          <a:prstGeom prst="rect">
            <a:avLst/>
          </a:prstGeom>
        </p:spPr>
      </p:pic>
      <p:pic>
        <p:nvPicPr>
          <p:cNvPr id="6" name="Picture 5" descr="image.png"/>
          <p:cNvPicPr>
            <a:picLocks noChangeAspect="1"/>
          </p:cNvPicPr>
          <p:nvPr/>
        </p:nvPicPr>
        <p:blipFill>
          <a:blip r:embed="rId6"/>
          <a:stretch>
            <a:fillRect/>
          </a:stretch>
        </p:blipFill>
        <p:spPr>
          <a:xfrm>
            <a:off x="857250" y="1665982"/>
            <a:ext cx="3190875" cy="333375"/>
          </a:xfrm>
          <a:prstGeom prst="rect">
            <a:avLst/>
          </a:prstGeom>
        </p:spPr>
      </p:pic>
      <p:pic>
        <p:nvPicPr>
          <p:cNvPr id="7" name="Picture 6" descr="image.png"/>
          <p:cNvPicPr>
            <a:picLocks noChangeAspect="1"/>
          </p:cNvPicPr>
          <p:nvPr/>
        </p:nvPicPr>
        <p:blipFill>
          <a:blip r:embed="rId7"/>
          <a:stretch>
            <a:fillRect/>
          </a:stretch>
        </p:blipFill>
        <p:spPr>
          <a:xfrm>
            <a:off x="1038225" y="1765994"/>
            <a:ext cx="138112" cy="133350"/>
          </a:xfrm>
          <a:prstGeom prst="rect">
            <a:avLst/>
          </a:prstGeom>
        </p:spPr>
      </p:pic>
      <p:pic>
        <p:nvPicPr>
          <p:cNvPr id="8" name="Picture 7" descr="image.png"/>
          <p:cNvPicPr>
            <a:picLocks noChangeAspect="1"/>
          </p:cNvPicPr>
          <p:nvPr/>
        </p:nvPicPr>
        <p:blipFill>
          <a:blip r:embed="rId8"/>
          <a:stretch>
            <a:fillRect/>
          </a:stretch>
        </p:blipFill>
        <p:spPr>
          <a:xfrm>
            <a:off x="1038225" y="4925317"/>
            <a:ext cx="123825" cy="142875"/>
          </a:xfrm>
          <a:prstGeom prst="rect">
            <a:avLst/>
          </a:prstGeom>
        </p:spPr>
      </p:pic>
      <p:pic>
        <p:nvPicPr>
          <p:cNvPr id="9" name="Picture 8" descr="image.png"/>
          <p:cNvPicPr>
            <a:picLocks noChangeAspect="1"/>
          </p:cNvPicPr>
          <p:nvPr/>
        </p:nvPicPr>
        <p:blipFill>
          <a:blip r:embed="rId9"/>
          <a:stretch>
            <a:fillRect/>
          </a:stretch>
        </p:blipFill>
        <p:spPr>
          <a:xfrm>
            <a:off x="2905125" y="4925317"/>
            <a:ext cx="180975" cy="142875"/>
          </a:xfrm>
          <a:prstGeom prst="rect">
            <a:avLst/>
          </a:prstGeom>
        </p:spPr>
      </p:pic>
      <p:pic>
        <p:nvPicPr>
          <p:cNvPr id="10" name="Picture 9" descr="image.png"/>
          <p:cNvPicPr>
            <a:picLocks noChangeAspect="1"/>
          </p:cNvPicPr>
          <p:nvPr/>
        </p:nvPicPr>
        <p:blipFill>
          <a:blip r:embed="rId10"/>
          <a:stretch>
            <a:fillRect/>
          </a:stretch>
        </p:blipFill>
        <p:spPr>
          <a:xfrm>
            <a:off x="4981575" y="4925317"/>
            <a:ext cx="104775" cy="142875"/>
          </a:xfrm>
          <a:prstGeom prst="rect">
            <a:avLst/>
          </a:prstGeom>
        </p:spPr>
      </p:pic>
      <p:sp>
        <p:nvSpPr>
          <p:cNvPr id="11" name="TextBox 10"/>
          <p:cNvSpPr txBox="1"/>
          <p:nvPr/>
        </p:nvSpPr>
        <p:spPr>
          <a:xfrm>
            <a:off x="857250" y="2227957"/>
            <a:ext cx="9001125" cy="1182885"/>
          </a:xfrm>
          <a:prstGeom prst="rect">
            <a:avLst/>
          </a:prstGeom>
          <a:noFill/>
        </p:spPr>
        <p:txBody>
          <a:bodyPr wrap="square" lIns="0" tIns="0" rIns="0" bIns="0" anchor="t">
            <a:spAutoFit/>
          </a:bodyPr>
          <a:lstStyle/>
          <a:p>
            <a:pPr algn="l">
              <a:lnSpc>
                <a:spcPts val="4657"/>
              </a:lnSpc>
            </a:pPr>
            <a:r>
              <a:rPr sz="4050" b="1" i="0" u="none">
                <a:solidFill>
                  <a:srgbClr val="FFFFFF"/>
                </a:solidFill>
                <a:latin typeface="Poppins"/>
              </a:rPr>
              <a:t>HR Employee Attrition Analytics Dashboard</a:t>
            </a:r>
          </a:p>
        </p:txBody>
      </p:sp>
      <p:sp>
        <p:nvSpPr>
          <p:cNvPr id="12" name="TextBox 11"/>
          <p:cNvSpPr txBox="1"/>
          <p:nvPr/>
        </p:nvSpPr>
        <p:spPr>
          <a:xfrm>
            <a:off x="857250" y="3601342"/>
            <a:ext cx="7620000" cy="628650"/>
          </a:xfrm>
          <a:prstGeom prst="rect">
            <a:avLst/>
          </a:prstGeom>
          <a:noFill/>
        </p:spPr>
        <p:txBody>
          <a:bodyPr wrap="square" lIns="0" tIns="0" rIns="0" bIns="0" anchor="t">
            <a:spAutoFit/>
          </a:bodyPr>
          <a:lstStyle/>
          <a:p>
            <a:pPr algn="l">
              <a:lnSpc>
                <a:spcPts val="2475"/>
              </a:lnSpc>
            </a:pPr>
            <a:r>
              <a:rPr sz="1650" b="0" i="0" u="none">
                <a:solidFill>
                  <a:srgbClr val="94A3B8"/>
                </a:solidFill>
                <a:latin typeface="Inter"/>
              </a:rPr>
              <a:t>An interactive data-driven analysis of workforce retention, job satisfaction, salary structures, and overtime trends.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138737" y="3162300"/>
            <a:ext cx="1914525" cy="333375"/>
          </a:xfrm>
          <a:prstGeom prst="rect">
            <a:avLst/>
          </a:prstGeom>
        </p:spPr>
      </p:pic>
      <p:sp>
        <p:nvSpPr>
          <p:cNvPr id="3" name="TextBox 2"/>
          <p:cNvSpPr txBox="1"/>
          <p:nvPr/>
        </p:nvSpPr>
        <p:spPr>
          <a:xfrm>
            <a:off x="1845468" y="3609975"/>
            <a:ext cx="8501062" cy="1485900"/>
          </a:xfrm>
          <a:prstGeom prst="rect">
            <a:avLst/>
          </a:prstGeom>
          <a:noFill/>
        </p:spPr>
        <p:txBody>
          <a:bodyPr wrap="square" lIns="0" tIns="0" rIns="0" bIns="0" anchor="t">
            <a:spAutoFit/>
          </a:bodyPr>
          <a:lstStyle/>
          <a:p>
            <a:pPr algn="ctr"/>
            <a:r>
              <a:rPr sz="3900" b="1" i="0" u="none">
                <a:solidFill>
                  <a:srgbClr val="0F172A"/>
                </a:solidFill>
                <a:latin typeface="Poppins"/>
              </a:rPr>
              <a:t>Understanding Workforce Dynamics</a:t>
            </a:r>
          </a:p>
        </p:txBody>
      </p:sp>
      <p:sp>
        <p:nvSpPr>
          <p:cNvPr id="4" name="Rectangle 3"/>
          <p:cNvSpPr/>
          <p:nvPr/>
        </p:nvSpPr>
        <p:spPr>
          <a:xfrm>
            <a:off x="5715000" y="5495925"/>
            <a:ext cx="762000" cy="47625"/>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47875" y="5772150"/>
            <a:ext cx="8096250" cy="609600"/>
          </a:xfrm>
          <a:prstGeom prst="rect">
            <a:avLst/>
          </a:prstGeom>
          <a:noFill/>
        </p:spPr>
        <p:txBody>
          <a:bodyPr wrap="square" lIns="0" tIns="0" rIns="0" bIns="0" anchor="t">
            <a:spAutoFit/>
          </a:bodyPr>
          <a:lstStyle/>
          <a:p>
            <a:pPr algn="ctr">
              <a:lnSpc>
                <a:spcPts val="2400"/>
              </a:lnSpc>
            </a:pPr>
            <a:r>
              <a:rPr sz="1500" b="0" i="0" u="none">
                <a:solidFill>
                  <a:srgbClr val="64748B"/>
                </a:solidFill>
                <a:latin typeface="Inter"/>
              </a:rPr>
              <a:t>Empowering HR professionals with actionable insights into attrition drivers, compensation equity, and employee engagement.</a:t>
            </a:r>
          </a:p>
        </p:txBody>
      </p:sp>
      <p:sp>
        <p:nvSpPr>
          <p:cNvPr id="6" name="Rounded Rectangle 5"/>
          <p:cNvSpPr/>
          <p:nvPr/>
        </p:nvSpPr>
        <p:spPr>
          <a:xfrm>
            <a:off x="1524000" y="-476250"/>
            <a:ext cx="3619500" cy="1458069"/>
          </a:xfrm>
          <a:prstGeom prst="roundRect">
            <a:avLst>
              <a:gd name="adj" fmla="val 32663"/>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90500" y="2696319"/>
            <a:ext cx="3048000" cy="1227980"/>
          </a:xfrm>
          <a:prstGeom prst="roundRect">
            <a:avLst>
              <a:gd name="adj" fmla="val 38783"/>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286500" y="2762250"/>
            <a:ext cx="5334000" cy="3619500"/>
          </a:xfrm>
          <a:prstGeom prst="rect">
            <a:avLst/>
          </a:prstGeom>
        </p:spPr>
      </p:pic>
      <p:pic>
        <p:nvPicPr>
          <p:cNvPr id="4" name="Picture 3" descr="image.png"/>
          <p:cNvPicPr>
            <a:picLocks noChangeAspect="1"/>
          </p:cNvPicPr>
          <p:nvPr/>
        </p:nvPicPr>
        <p:blipFill>
          <a:blip r:embed="rId3"/>
          <a:stretch>
            <a:fillRect/>
          </a:stretch>
        </p:blipFill>
        <p:spPr>
          <a:xfrm>
            <a:off x="790575" y="3057525"/>
            <a:ext cx="219075" cy="190500"/>
          </a:xfrm>
          <a:prstGeom prst="rect">
            <a:avLst/>
          </a:prstGeom>
        </p:spPr>
      </p:pic>
      <p:pic>
        <p:nvPicPr>
          <p:cNvPr id="5" name="Picture 4" descr="image.png"/>
          <p:cNvPicPr>
            <a:picLocks noChangeAspect="1"/>
          </p:cNvPicPr>
          <p:nvPr/>
        </p:nvPicPr>
        <p:blipFill>
          <a:blip r:embed="rId4"/>
          <a:stretch>
            <a:fillRect/>
          </a:stretch>
        </p:blipFill>
        <p:spPr>
          <a:xfrm>
            <a:off x="790575" y="4257675"/>
            <a:ext cx="190500" cy="190500"/>
          </a:xfrm>
          <a:prstGeom prst="rect">
            <a:avLst/>
          </a:prstGeom>
        </p:spPr>
      </p:pic>
      <p:pic>
        <p:nvPicPr>
          <p:cNvPr id="6" name="Picture 5" descr="image.png"/>
          <p:cNvPicPr>
            <a:picLocks noChangeAspect="1"/>
          </p:cNvPicPr>
          <p:nvPr/>
        </p:nvPicPr>
        <p:blipFill>
          <a:blip r:embed="rId5"/>
          <a:stretch>
            <a:fillRect/>
          </a:stretch>
        </p:blipFill>
        <p:spPr>
          <a:xfrm>
            <a:off x="790575" y="5457825"/>
            <a:ext cx="142875" cy="190500"/>
          </a:xfrm>
          <a:prstGeom prst="rect">
            <a:avLst/>
          </a:prstGeom>
        </p:spPr>
      </p:pic>
      <p:sp>
        <p:nvSpPr>
          <p:cNvPr id="7" name="TextBox 6"/>
          <p:cNvSpPr txBox="1"/>
          <p:nvPr/>
        </p:nvSpPr>
        <p:spPr>
          <a:xfrm>
            <a:off x="1162050" y="3028950"/>
            <a:ext cx="4750593" cy="247650"/>
          </a:xfrm>
          <a:prstGeom prst="rect">
            <a:avLst/>
          </a:prstGeom>
          <a:noFill/>
        </p:spPr>
        <p:txBody>
          <a:bodyPr wrap="square" lIns="0" tIns="0" rIns="0" bIns="0" anchor="t">
            <a:spAutoFit/>
          </a:bodyPr>
          <a:lstStyle/>
          <a:p>
            <a:pPr algn="l"/>
            <a:r>
              <a:rPr sz="1275" b="0" i="0" u="none">
                <a:solidFill>
                  <a:srgbClr val="1E293B"/>
                </a:solidFill>
                <a:latin typeface="Poppins SemiBold"/>
              </a:rPr>
              <a:t>Interactive Dashboard</a:t>
            </a:r>
          </a:p>
        </p:txBody>
      </p:sp>
      <p:sp>
        <p:nvSpPr>
          <p:cNvPr id="8" name="TextBox 7"/>
          <p:cNvSpPr txBox="1"/>
          <p:nvPr/>
        </p:nvSpPr>
        <p:spPr>
          <a:xfrm>
            <a:off x="1162050" y="3314700"/>
            <a:ext cx="4524375" cy="400050"/>
          </a:xfrm>
          <a:prstGeom prst="rect">
            <a:avLst/>
          </a:prstGeom>
          <a:noFill/>
        </p:spPr>
        <p:txBody>
          <a:bodyPr wrap="square" lIns="0" tIns="0" rIns="0" bIns="0" anchor="t">
            <a:spAutoFit/>
          </a:bodyPr>
          <a:lstStyle/>
          <a:p>
            <a:pPr algn="l">
              <a:lnSpc>
                <a:spcPts val="1575"/>
              </a:lnSpc>
            </a:pPr>
            <a:r>
              <a:rPr sz="1050" b="0" i="0" u="none">
                <a:solidFill>
                  <a:srgbClr val="475569"/>
                </a:solidFill>
                <a:latin typeface="Inter"/>
              </a:rPr>
              <a:t>Built using Power BI Desktop, enabling real-time filtering across multi-dimensional employee attributes.</a:t>
            </a:r>
          </a:p>
        </p:txBody>
      </p:sp>
      <p:sp>
        <p:nvSpPr>
          <p:cNvPr id="9" name="TextBox 8"/>
          <p:cNvSpPr txBox="1"/>
          <p:nvPr/>
        </p:nvSpPr>
        <p:spPr>
          <a:xfrm>
            <a:off x="1133475" y="4229100"/>
            <a:ext cx="4780597" cy="247650"/>
          </a:xfrm>
          <a:prstGeom prst="rect">
            <a:avLst/>
          </a:prstGeom>
          <a:noFill/>
        </p:spPr>
        <p:txBody>
          <a:bodyPr wrap="square" lIns="0" tIns="0" rIns="0" bIns="0" anchor="t">
            <a:spAutoFit/>
          </a:bodyPr>
          <a:lstStyle/>
          <a:p>
            <a:pPr algn="l"/>
            <a:r>
              <a:rPr sz="1275" b="0" i="0" u="none">
                <a:solidFill>
                  <a:srgbClr val="1E293B"/>
                </a:solidFill>
                <a:latin typeface="Poppins SemiBold"/>
              </a:rPr>
              <a:t>Slicer-Driven Discovery</a:t>
            </a:r>
          </a:p>
        </p:txBody>
      </p:sp>
      <p:sp>
        <p:nvSpPr>
          <p:cNvPr id="10" name="TextBox 9"/>
          <p:cNvSpPr txBox="1"/>
          <p:nvPr/>
        </p:nvSpPr>
        <p:spPr>
          <a:xfrm>
            <a:off x="1133475" y="4514850"/>
            <a:ext cx="4552950" cy="400050"/>
          </a:xfrm>
          <a:prstGeom prst="rect">
            <a:avLst/>
          </a:prstGeom>
          <a:noFill/>
        </p:spPr>
        <p:txBody>
          <a:bodyPr wrap="square" lIns="0" tIns="0" rIns="0" bIns="0" anchor="t">
            <a:spAutoFit/>
          </a:bodyPr>
          <a:lstStyle/>
          <a:p>
            <a:pPr algn="l">
              <a:lnSpc>
                <a:spcPts val="1575"/>
              </a:lnSpc>
            </a:pPr>
            <a:r>
              <a:rPr sz="1050" b="0" i="0" u="none">
                <a:solidFill>
                  <a:srgbClr val="475569"/>
                </a:solidFill>
                <a:latin typeface="Inter"/>
              </a:rPr>
              <a:t>Seamless drill-down by Department, Gender, Overtime status, and Marital Status for isolated analysis.</a:t>
            </a:r>
          </a:p>
        </p:txBody>
      </p:sp>
      <p:sp>
        <p:nvSpPr>
          <p:cNvPr id="11" name="TextBox 10"/>
          <p:cNvSpPr txBox="1"/>
          <p:nvPr/>
        </p:nvSpPr>
        <p:spPr>
          <a:xfrm>
            <a:off x="1085850" y="5429250"/>
            <a:ext cx="4830603" cy="247650"/>
          </a:xfrm>
          <a:prstGeom prst="rect">
            <a:avLst/>
          </a:prstGeom>
          <a:noFill/>
        </p:spPr>
        <p:txBody>
          <a:bodyPr wrap="square" lIns="0" tIns="0" rIns="0" bIns="0" anchor="t">
            <a:spAutoFit/>
          </a:bodyPr>
          <a:lstStyle/>
          <a:p>
            <a:pPr algn="l"/>
            <a:r>
              <a:rPr sz="1275" b="0" i="0" u="none">
                <a:solidFill>
                  <a:srgbClr val="1E293B"/>
                </a:solidFill>
                <a:latin typeface="Poppins SemiBold"/>
              </a:rPr>
              <a:t>Strategic Retention</a:t>
            </a:r>
          </a:p>
        </p:txBody>
      </p:sp>
      <p:sp>
        <p:nvSpPr>
          <p:cNvPr id="12" name="TextBox 11"/>
          <p:cNvSpPr txBox="1"/>
          <p:nvPr/>
        </p:nvSpPr>
        <p:spPr>
          <a:xfrm>
            <a:off x="1085850" y="5715000"/>
            <a:ext cx="4600575" cy="400050"/>
          </a:xfrm>
          <a:prstGeom prst="rect">
            <a:avLst/>
          </a:prstGeom>
          <a:noFill/>
        </p:spPr>
        <p:txBody>
          <a:bodyPr wrap="square" lIns="0" tIns="0" rIns="0" bIns="0" anchor="t">
            <a:spAutoFit/>
          </a:bodyPr>
          <a:lstStyle/>
          <a:p>
            <a:pPr algn="l">
              <a:lnSpc>
                <a:spcPts val="1575"/>
              </a:lnSpc>
            </a:pPr>
            <a:r>
              <a:rPr sz="1050" b="0" i="0" u="none">
                <a:solidFill>
                  <a:srgbClr val="475569"/>
                </a:solidFill>
                <a:latin typeface="Inter"/>
              </a:rPr>
              <a:t>Identifies key operational bottlenecks contributing to employee turnover and lower job satisfaction.</a:t>
            </a:r>
          </a:p>
        </p:txBody>
      </p:sp>
      <p:sp>
        <p:nvSpPr>
          <p:cNvPr id="13" name="Rounded Rectangle 12"/>
          <p:cNvSpPr/>
          <p:nvPr/>
        </p:nvSpPr>
        <p:spPr>
          <a:xfrm>
            <a:off x="1524000" y="-476250"/>
            <a:ext cx="3619500" cy="1571625"/>
          </a:xfrm>
          <a:prstGeom prst="roundRect">
            <a:avLst>
              <a:gd name="adj" fmla="val 30303"/>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71500" y="2047875"/>
            <a:ext cx="11601450" cy="485775"/>
          </a:xfrm>
          <a:prstGeom prst="rect">
            <a:avLst/>
          </a:prstGeom>
          <a:noFill/>
        </p:spPr>
        <p:txBody>
          <a:bodyPr wrap="square" lIns="0" tIns="0" rIns="0" bIns="0" anchor="ctr">
            <a:spAutoFit/>
          </a:bodyPr>
          <a:lstStyle/>
          <a:p>
            <a:pPr algn="l"/>
            <a:r>
              <a:rPr sz="2550" b="1" i="0" u="none">
                <a:solidFill>
                  <a:srgbClr val="0F172A"/>
                </a:solidFill>
                <a:latin typeface="Poppins"/>
              </a:rPr>
              <a:t>Project Overview</a:t>
            </a:r>
          </a:p>
        </p:txBody>
      </p:sp>
      <p:sp>
        <p:nvSpPr>
          <p:cNvPr id="15" name="Rounded Rectangle 14"/>
          <p:cNvSpPr/>
          <p:nvPr/>
        </p:nvSpPr>
        <p:spPr>
          <a:xfrm>
            <a:off x="571500" y="2533650"/>
            <a:ext cx="57150" cy="30480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a:extLst>
              <a:ext uri="{FF2B5EF4-FFF2-40B4-BE49-F238E27FC236}">
                <a16:creationId xmlns:a16="http://schemas.microsoft.com/office/drawing/2014/main" id="{8A51DE9A-5370-8AA2-3243-CAA15A0CCD47}"/>
              </a:ext>
            </a:extLst>
          </p:cNvPr>
          <p:cNvPicPr>
            <a:picLocks noChangeAspect="1"/>
          </p:cNvPicPr>
          <p:nvPr/>
        </p:nvPicPr>
        <p:blipFill>
          <a:blip r:embed="rId6"/>
          <a:stretch>
            <a:fillRect/>
          </a:stretch>
        </p:blipFill>
        <p:spPr>
          <a:xfrm>
            <a:off x="6290309" y="2762250"/>
            <a:ext cx="5330191" cy="369478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71500" y="1600200"/>
            <a:ext cx="3530500" cy="2276475"/>
          </a:xfrm>
          <a:prstGeom prst="rect">
            <a:avLst/>
          </a:prstGeom>
        </p:spPr>
      </p:pic>
      <p:pic>
        <p:nvPicPr>
          <p:cNvPr id="3" name="Picture 2" descr="image.png"/>
          <p:cNvPicPr>
            <a:picLocks noChangeAspect="1"/>
          </p:cNvPicPr>
          <p:nvPr/>
        </p:nvPicPr>
        <p:blipFill>
          <a:blip r:embed="rId3"/>
          <a:stretch>
            <a:fillRect/>
          </a:stretch>
        </p:blipFill>
        <p:spPr>
          <a:xfrm>
            <a:off x="4330600" y="1600200"/>
            <a:ext cx="3530649" cy="2276475"/>
          </a:xfrm>
          <a:prstGeom prst="rect">
            <a:avLst/>
          </a:prstGeom>
        </p:spPr>
      </p:pic>
      <p:pic>
        <p:nvPicPr>
          <p:cNvPr id="4" name="Picture 3" descr="image.png"/>
          <p:cNvPicPr>
            <a:picLocks noChangeAspect="1"/>
          </p:cNvPicPr>
          <p:nvPr/>
        </p:nvPicPr>
        <p:blipFill>
          <a:blip r:embed="rId4"/>
          <a:stretch>
            <a:fillRect/>
          </a:stretch>
        </p:blipFill>
        <p:spPr>
          <a:xfrm>
            <a:off x="8089850" y="1600200"/>
            <a:ext cx="3530500" cy="2276475"/>
          </a:xfrm>
          <a:prstGeom prst="rect">
            <a:avLst/>
          </a:prstGeom>
        </p:spPr>
      </p:pic>
      <p:pic>
        <p:nvPicPr>
          <p:cNvPr id="5" name="Picture 4" descr="image.png"/>
          <p:cNvPicPr>
            <a:picLocks noChangeAspect="1"/>
          </p:cNvPicPr>
          <p:nvPr/>
        </p:nvPicPr>
        <p:blipFill>
          <a:blip r:embed="rId5"/>
          <a:stretch>
            <a:fillRect/>
          </a:stretch>
        </p:blipFill>
        <p:spPr>
          <a:xfrm>
            <a:off x="571500" y="4105275"/>
            <a:ext cx="3530500" cy="2276475"/>
          </a:xfrm>
          <a:prstGeom prst="rect">
            <a:avLst/>
          </a:prstGeom>
        </p:spPr>
      </p:pic>
      <p:pic>
        <p:nvPicPr>
          <p:cNvPr id="6" name="Picture 5" descr="image.png"/>
          <p:cNvPicPr>
            <a:picLocks noChangeAspect="1"/>
          </p:cNvPicPr>
          <p:nvPr/>
        </p:nvPicPr>
        <p:blipFill>
          <a:blip r:embed="rId3"/>
          <a:stretch>
            <a:fillRect/>
          </a:stretch>
        </p:blipFill>
        <p:spPr>
          <a:xfrm>
            <a:off x="4330600" y="4105275"/>
            <a:ext cx="3530649" cy="2276475"/>
          </a:xfrm>
          <a:prstGeom prst="rect">
            <a:avLst/>
          </a:prstGeom>
        </p:spPr>
      </p:pic>
      <p:pic>
        <p:nvPicPr>
          <p:cNvPr id="7" name="Picture 6" descr="image.png"/>
          <p:cNvPicPr>
            <a:picLocks noChangeAspect="1"/>
          </p:cNvPicPr>
          <p:nvPr/>
        </p:nvPicPr>
        <p:blipFill>
          <a:blip r:embed="rId6"/>
          <a:stretch>
            <a:fillRect/>
          </a:stretch>
        </p:blipFill>
        <p:spPr>
          <a:xfrm>
            <a:off x="8089850" y="4105275"/>
            <a:ext cx="3530500" cy="2276475"/>
          </a:xfrm>
          <a:prstGeom prst="rect">
            <a:avLst/>
          </a:prstGeom>
        </p:spPr>
      </p:pic>
      <p:pic>
        <p:nvPicPr>
          <p:cNvPr id="8" name="Picture 7" descr="image.png"/>
          <p:cNvPicPr>
            <a:picLocks noChangeAspect="1"/>
          </p:cNvPicPr>
          <p:nvPr/>
        </p:nvPicPr>
        <p:blipFill>
          <a:blip r:embed="rId7"/>
          <a:stretch>
            <a:fillRect/>
          </a:stretch>
        </p:blipFill>
        <p:spPr>
          <a:xfrm>
            <a:off x="809625" y="1895475"/>
            <a:ext cx="514350" cy="514350"/>
          </a:xfrm>
          <a:prstGeom prst="rect">
            <a:avLst/>
          </a:prstGeom>
        </p:spPr>
      </p:pic>
      <p:sp>
        <p:nvSpPr>
          <p:cNvPr id="9" name="TextBox 8"/>
          <p:cNvSpPr txBox="1"/>
          <p:nvPr/>
        </p:nvSpPr>
        <p:spPr>
          <a:xfrm>
            <a:off x="809625" y="2600325"/>
            <a:ext cx="2180272" cy="285750"/>
          </a:xfrm>
          <a:prstGeom prst="rect">
            <a:avLst/>
          </a:prstGeom>
          <a:noFill/>
        </p:spPr>
        <p:txBody>
          <a:bodyPr wrap="square" lIns="0" tIns="0" rIns="0" bIns="0" anchor="t">
            <a:spAutoFit/>
          </a:bodyPr>
          <a:lstStyle/>
          <a:p>
            <a:pPr algn="l"/>
            <a:r>
              <a:rPr sz="1500" b="0" i="0" u="none">
                <a:solidFill>
                  <a:srgbClr val="0F172A"/>
                </a:solidFill>
                <a:latin typeface="Poppins SemiBold"/>
              </a:rPr>
              <a:t>Department Attrition</a:t>
            </a:r>
          </a:p>
        </p:txBody>
      </p:sp>
      <p:sp>
        <p:nvSpPr>
          <p:cNvPr id="10" name="TextBox 9"/>
          <p:cNvSpPr txBox="1"/>
          <p:nvPr/>
        </p:nvSpPr>
        <p:spPr>
          <a:xfrm>
            <a:off x="809625" y="2981325"/>
            <a:ext cx="3054250" cy="600075"/>
          </a:xfrm>
          <a:prstGeom prst="rect">
            <a:avLst/>
          </a:prstGeom>
          <a:noFill/>
        </p:spPr>
        <p:txBody>
          <a:bodyPr wrap="square" lIns="0" tIns="0" rIns="0" bIns="0" anchor="t">
            <a:spAutoFit/>
          </a:bodyPr>
          <a:lstStyle/>
          <a:p>
            <a:pPr algn="l">
              <a:lnSpc>
                <a:spcPts val="1575"/>
              </a:lnSpc>
            </a:pPr>
            <a:r>
              <a:rPr sz="1050" b="0" i="0" u="none">
                <a:solidFill>
                  <a:srgbClr val="64748B"/>
                </a:solidFill>
                <a:latin typeface="Inter"/>
              </a:rPr>
              <a:t>Analyze turnover rates across various operational departments and specific job roles to isolate high-risk groups.</a:t>
            </a:r>
          </a:p>
        </p:txBody>
      </p:sp>
      <p:pic>
        <p:nvPicPr>
          <p:cNvPr id="11" name="Picture 10" descr="image.png"/>
          <p:cNvPicPr>
            <a:picLocks noChangeAspect="1"/>
          </p:cNvPicPr>
          <p:nvPr/>
        </p:nvPicPr>
        <p:blipFill>
          <a:blip r:embed="rId8"/>
          <a:stretch>
            <a:fillRect/>
          </a:stretch>
        </p:blipFill>
        <p:spPr>
          <a:xfrm>
            <a:off x="4568725" y="1895475"/>
            <a:ext cx="514350" cy="514350"/>
          </a:xfrm>
          <a:prstGeom prst="rect">
            <a:avLst/>
          </a:prstGeom>
        </p:spPr>
      </p:pic>
      <p:sp>
        <p:nvSpPr>
          <p:cNvPr id="12" name="TextBox 11"/>
          <p:cNvSpPr txBox="1"/>
          <p:nvPr/>
        </p:nvSpPr>
        <p:spPr>
          <a:xfrm>
            <a:off x="4568725" y="2600325"/>
            <a:ext cx="1770221" cy="285750"/>
          </a:xfrm>
          <a:prstGeom prst="rect">
            <a:avLst/>
          </a:prstGeom>
          <a:noFill/>
        </p:spPr>
        <p:txBody>
          <a:bodyPr wrap="square" lIns="0" tIns="0" rIns="0" bIns="0" anchor="t">
            <a:spAutoFit/>
          </a:bodyPr>
          <a:lstStyle/>
          <a:p>
            <a:pPr algn="l"/>
            <a:r>
              <a:rPr sz="1500" b="0" i="0" u="none">
                <a:solidFill>
                  <a:srgbClr val="0F172A"/>
                </a:solidFill>
                <a:latin typeface="Poppins SemiBold"/>
              </a:rPr>
              <a:t>Overtime Impact</a:t>
            </a:r>
          </a:p>
        </p:txBody>
      </p:sp>
      <p:sp>
        <p:nvSpPr>
          <p:cNvPr id="13" name="TextBox 12"/>
          <p:cNvSpPr txBox="1"/>
          <p:nvPr/>
        </p:nvSpPr>
        <p:spPr>
          <a:xfrm>
            <a:off x="4568725" y="2981325"/>
            <a:ext cx="3054399" cy="600075"/>
          </a:xfrm>
          <a:prstGeom prst="rect">
            <a:avLst/>
          </a:prstGeom>
          <a:noFill/>
        </p:spPr>
        <p:txBody>
          <a:bodyPr wrap="square" lIns="0" tIns="0" rIns="0" bIns="0" anchor="t">
            <a:spAutoFit/>
          </a:bodyPr>
          <a:lstStyle/>
          <a:p>
            <a:pPr algn="l">
              <a:lnSpc>
                <a:spcPts val="1575"/>
              </a:lnSpc>
            </a:pPr>
            <a:r>
              <a:rPr sz="1050" b="0" i="0" u="none">
                <a:solidFill>
                  <a:srgbClr val="64748B"/>
                </a:solidFill>
                <a:latin typeface="Inter"/>
              </a:rPr>
              <a:t>Study the direct correlation between extended work hours and increased employee resignation rates.</a:t>
            </a:r>
          </a:p>
        </p:txBody>
      </p:sp>
      <p:pic>
        <p:nvPicPr>
          <p:cNvPr id="14" name="Picture 13" descr="image.png"/>
          <p:cNvPicPr>
            <a:picLocks noChangeAspect="1"/>
          </p:cNvPicPr>
          <p:nvPr/>
        </p:nvPicPr>
        <p:blipFill>
          <a:blip r:embed="rId9"/>
          <a:stretch>
            <a:fillRect/>
          </a:stretch>
        </p:blipFill>
        <p:spPr>
          <a:xfrm>
            <a:off x="8327975" y="1895475"/>
            <a:ext cx="514350" cy="514350"/>
          </a:xfrm>
          <a:prstGeom prst="rect">
            <a:avLst/>
          </a:prstGeom>
        </p:spPr>
      </p:pic>
      <p:sp>
        <p:nvSpPr>
          <p:cNvPr id="15" name="TextBox 14"/>
          <p:cNvSpPr txBox="1"/>
          <p:nvPr/>
        </p:nvSpPr>
        <p:spPr>
          <a:xfrm>
            <a:off x="8327975" y="2600325"/>
            <a:ext cx="2320290" cy="285750"/>
          </a:xfrm>
          <a:prstGeom prst="rect">
            <a:avLst/>
          </a:prstGeom>
          <a:noFill/>
        </p:spPr>
        <p:txBody>
          <a:bodyPr wrap="square" lIns="0" tIns="0" rIns="0" bIns="0" anchor="t">
            <a:spAutoFit/>
          </a:bodyPr>
          <a:lstStyle/>
          <a:p>
            <a:pPr algn="l"/>
            <a:r>
              <a:rPr sz="1500" b="0" i="0" u="none">
                <a:solidFill>
                  <a:srgbClr val="0F172A"/>
                </a:solidFill>
                <a:latin typeface="Poppins SemiBold"/>
              </a:rPr>
              <a:t>Income Benchmarking</a:t>
            </a:r>
          </a:p>
        </p:txBody>
      </p:sp>
      <p:sp>
        <p:nvSpPr>
          <p:cNvPr id="16" name="TextBox 15"/>
          <p:cNvSpPr txBox="1"/>
          <p:nvPr/>
        </p:nvSpPr>
        <p:spPr>
          <a:xfrm>
            <a:off x="8327975" y="2981325"/>
            <a:ext cx="3054250" cy="600075"/>
          </a:xfrm>
          <a:prstGeom prst="rect">
            <a:avLst/>
          </a:prstGeom>
          <a:noFill/>
        </p:spPr>
        <p:txBody>
          <a:bodyPr wrap="square" lIns="0" tIns="0" rIns="0" bIns="0" anchor="t">
            <a:spAutoFit/>
          </a:bodyPr>
          <a:lstStyle/>
          <a:p>
            <a:pPr algn="l">
              <a:lnSpc>
                <a:spcPts val="1575"/>
              </a:lnSpc>
            </a:pPr>
            <a:r>
              <a:rPr sz="1050" b="0" i="0" u="none">
                <a:solidFill>
                  <a:srgbClr val="64748B"/>
                </a:solidFill>
                <a:latin typeface="Inter"/>
              </a:rPr>
              <a:t>Compare average monthly income structures across different job roles to evaluate pay equity and competitive positioning.</a:t>
            </a:r>
          </a:p>
        </p:txBody>
      </p:sp>
      <p:pic>
        <p:nvPicPr>
          <p:cNvPr id="17" name="Picture 16" descr="image.png"/>
          <p:cNvPicPr>
            <a:picLocks noChangeAspect="1"/>
          </p:cNvPicPr>
          <p:nvPr/>
        </p:nvPicPr>
        <p:blipFill>
          <a:blip r:embed="rId10"/>
          <a:stretch>
            <a:fillRect/>
          </a:stretch>
        </p:blipFill>
        <p:spPr>
          <a:xfrm>
            <a:off x="809625" y="4400550"/>
            <a:ext cx="514350" cy="514350"/>
          </a:xfrm>
          <a:prstGeom prst="rect">
            <a:avLst/>
          </a:prstGeom>
        </p:spPr>
      </p:pic>
      <p:sp>
        <p:nvSpPr>
          <p:cNvPr id="18" name="TextBox 17"/>
          <p:cNvSpPr txBox="1"/>
          <p:nvPr/>
        </p:nvSpPr>
        <p:spPr>
          <a:xfrm>
            <a:off x="809625" y="5105400"/>
            <a:ext cx="2150268" cy="285750"/>
          </a:xfrm>
          <a:prstGeom prst="rect">
            <a:avLst/>
          </a:prstGeom>
          <a:noFill/>
        </p:spPr>
        <p:txBody>
          <a:bodyPr wrap="square" lIns="0" tIns="0" rIns="0" bIns="0" anchor="t">
            <a:spAutoFit/>
          </a:bodyPr>
          <a:lstStyle/>
          <a:p>
            <a:pPr algn="l"/>
            <a:r>
              <a:rPr sz="1500" b="0" i="0" u="none">
                <a:solidFill>
                  <a:srgbClr val="0F172A"/>
                </a:solidFill>
                <a:latin typeface="Poppins SemiBold"/>
              </a:rPr>
              <a:t>Satisfaction Analysis</a:t>
            </a:r>
          </a:p>
        </p:txBody>
      </p:sp>
      <p:sp>
        <p:nvSpPr>
          <p:cNvPr id="19" name="TextBox 18"/>
          <p:cNvSpPr txBox="1"/>
          <p:nvPr/>
        </p:nvSpPr>
        <p:spPr>
          <a:xfrm>
            <a:off x="809625" y="5486400"/>
            <a:ext cx="3054250" cy="600075"/>
          </a:xfrm>
          <a:prstGeom prst="rect">
            <a:avLst/>
          </a:prstGeom>
          <a:noFill/>
        </p:spPr>
        <p:txBody>
          <a:bodyPr wrap="square" lIns="0" tIns="0" rIns="0" bIns="0" anchor="t">
            <a:spAutoFit/>
          </a:bodyPr>
          <a:lstStyle/>
          <a:p>
            <a:pPr algn="l">
              <a:lnSpc>
                <a:spcPts val="1575"/>
              </a:lnSpc>
            </a:pPr>
            <a:r>
              <a:rPr sz="1050" b="0" i="0" u="none">
                <a:solidFill>
                  <a:srgbClr val="64748B"/>
                </a:solidFill>
                <a:latin typeface="Inter"/>
              </a:rPr>
              <a:t>Evaluate employee job satisfaction distribution to gauge overall workforce morale and engagement levels.</a:t>
            </a:r>
          </a:p>
        </p:txBody>
      </p:sp>
      <p:pic>
        <p:nvPicPr>
          <p:cNvPr id="20" name="Picture 19" descr="image.png"/>
          <p:cNvPicPr>
            <a:picLocks noChangeAspect="1"/>
          </p:cNvPicPr>
          <p:nvPr/>
        </p:nvPicPr>
        <p:blipFill>
          <a:blip r:embed="rId11"/>
          <a:stretch>
            <a:fillRect/>
          </a:stretch>
        </p:blipFill>
        <p:spPr>
          <a:xfrm>
            <a:off x="4568725" y="4400550"/>
            <a:ext cx="514350" cy="514350"/>
          </a:xfrm>
          <a:prstGeom prst="rect">
            <a:avLst/>
          </a:prstGeom>
        </p:spPr>
      </p:pic>
      <p:sp>
        <p:nvSpPr>
          <p:cNvPr id="21" name="TextBox 20"/>
          <p:cNvSpPr txBox="1"/>
          <p:nvPr/>
        </p:nvSpPr>
        <p:spPr>
          <a:xfrm>
            <a:off x="4568725" y="5105400"/>
            <a:ext cx="2000250" cy="285750"/>
          </a:xfrm>
          <a:prstGeom prst="rect">
            <a:avLst/>
          </a:prstGeom>
          <a:noFill/>
        </p:spPr>
        <p:txBody>
          <a:bodyPr wrap="square" lIns="0" tIns="0" rIns="0" bIns="0" anchor="t">
            <a:spAutoFit/>
          </a:bodyPr>
          <a:lstStyle/>
          <a:p>
            <a:pPr algn="l"/>
            <a:r>
              <a:rPr sz="1500" b="0" i="0" u="none">
                <a:solidFill>
                  <a:srgbClr val="0F172A"/>
                </a:solidFill>
                <a:latin typeface="Poppins SemiBold"/>
              </a:rPr>
              <a:t>Interactive Filtering</a:t>
            </a:r>
          </a:p>
        </p:txBody>
      </p:sp>
      <p:sp>
        <p:nvSpPr>
          <p:cNvPr id="22" name="TextBox 21"/>
          <p:cNvSpPr txBox="1"/>
          <p:nvPr/>
        </p:nvSpPr>
        <p:spPr>
          <a:xfrm>
            <a:off x="4568725" y="5486400"/>
            <a:ext cx="3054399" cy="400050"/>
          </a:xfrm>
          <a:prstGeom prst="rect">
            <a:avLst/>
          </a:prstGeom>
          <a:noFill/>
        </p:spPr>
        <p:txBody>
          <a:bodyPr wrap="square" lIns="0" tIns="0" rIns="0" bIns="0" anchor="t">
            <a:spAutoFit/>
          </a:bodyPr>
          <a:lstStyle/>
          <a:p>
            <a:pPr algn="l">
              <a:lnSpc>
                <a:spcPts val="1575"/>
              </a:lnSpc>
            </a:pPr>
            <a:r>
              <a:rPr sz="1050" b="0" i="0" u="none">
                <a:solidFill>
                  <a:srgbClr val="64748B"/>
                </a:solidFill>
                <a:latin typeface="Inter"/>
              </a:rPr>
              <a:t>Deliver dynamic slicers for deep-dive analysis by demographic and organizational segments.</a:t>
            </a:r>
          </a:p>
        </p:txBody>
      </p:sp>
      <p:pic>
        <p:nvPicPr>
          <p:cNvPr id="23" name="Picture 22" descr="image.png"/>
          <p:cNvPicPr>
            <a:picLocks noChangeAspect="1"/>
          </p:cNvPicPr>
          <p:nvPr/>
        </p:nvPicPr>
        <p:blipFill>
          <a:blip r:embed="rId12"/>
          <a:stretch>
            <a:fillRect/>
          </a:stretch>
        </p:blipFill>
        <p:spPr>
          <a:xfrm>
            <a:off x="8327975" y="4400550"/>
            <a:ext cx="514350" cy="514350"/>
          </a:xfrm>
          <a:prstGeom prst="rect">
            <a:avLst/>
          </a:prstGeom>
        </p:spPr>
      </p:pic>
      <p:sp>
        <p:nvSpPr>
          <p:cNvPr id="24" name="TextBox 23"/>
          <p:cNvSpPr txBox="1"/>
          <p:nvPr/>
        </p:nvSpPr>
        <p:spPr>
          <a:xfrm>
            <a:off x="8327975" y="5105400"/>
            <a:ext cx="1980247" cy="285750"/>
          </a:xfrm>
          <a:prstGeom prst="rect">
            <a:avLst/>
          </a:prstGeom>
          <a:noFill/>
        </p:spPr>
        <p:txBody>
          <a:bodyPr wrap="square" lIns="0" tIns="0" rIns="0" bIns="0" anchor="t">
            <a:spAutoFit/>
          </a:bodyPr>
          <a:lstStyle/>
          <a:p>
            <a:pPr algn="l"/>
            <a:r>
              <a:rPr sz="1500" b="0" i="0" u="none">
                <a:solidFill>
                  <a:srgbClr val="0F172A"/>
                </a:solidFill>
                <a:latin typeface="Poppins SemiBold"/>
              </a:rPr>
              <a:t>Data-Driven Action</a:t>
            </a:r>
          </a:p>
        </p:txBody>
      </p:sp>
      <p:sp>
        <p:nvSpPr>
          <p:cNvPr id="25" name="TextBox 24"/>
          <p:cNvSpPr txBox="1"/>
          <p:nvPr/>
        </p:nvSpPr>
        <p:spPr>
          <a:xfrm>
            <a:off x="8327975" y="5486400"/>
            <a:ext cx="3054250" cy="600075"/>
          </a:xfrm>
          <a:prstGeom prst="rect">
            <a:avLst/>
          </a:prstGeom>
          <a:noFill/>
        </p:spPr>
        <p:txBody>
          <a:bodyPr wrap="square" lIns="0" tIns="0" rIns="0" bIns="0" anchor="t">
            <a:spAutoFit/>
          </a:bodyPr>
          <a:lstStyle/>
          <a:p>
            <a:pPr algn="l">
              <a:lnSpc>
                <a:spcPts val="1575"/>
              </a:lnSpc>
            </a:pPr>
            <a:r>
              <a:rPr sz="1050" b="0" i="0" u="none">
                <a:solidFill>
                  <a:srgbClr val="64748B"/>
                </a:solidFill>
                <a:latin typeface="Inter"/>
              </a:rPr>
              <a:t>Provide executive leaders with clear baseline metrics to formulate proactive retention strategies.</a:t>
            </a:r>
          </a:p>
        </p:txBody>
      </p:sp>
      <p:pic>
        <p:nvPicPr>
          <p:cNvPr id="26" name="Picture 25" descr="image.png"/>
          <p:cNvPicPr>
            <a:picLocks noChangeAspect="1"/>
          </p:cNvPicPr>
          <p:nvPr/>
        </p:nvPicPr>
        <p:blipFill>
          <a:blip r:embed="rId13"/>
          <a:stretch>
            <a:fillRect/>
          </a:stretch>
        </p:blipFill>
        <p:spPr>
          <a:xfrm>
            <a:off x="923925" y="2038350"/>
            <a:ext cx="285750" cy="228600"/>
          </a:xfrm>
          <a:prstGeom prst="rect">
            <a:avLst/>
          </a:prstGeom>
        </p:spPr>
      </p:pic>
      <p:pic>
        <p:nvPicPr>
          <p:cNvPr id="27" name="Picture 26" descr="image.png"/>
          <p:cNvPicPr>
            <a:picLocks noChangeAspect="1"/>
          </p:cNvPicPr>
          <p:nvPr/>
        </p:nvPicPr>
        <p:blipFill>
          <a:blip r:embed="rId14"/>
          <a:stretch>
            <a:fillRect/>
          </a:stretch>
        </p:blipFill>
        <p:spPr>
          <a:xfrm>
            <a:off x="4711600" y="2038350"/>
            <a:ext cx="228600" cy="228600"/>
          </a:xfrm>
          <a:prstGeom prst="rect">
            <a:avLst/>
          </a:prstGeom>
        </p:spPr>
      </p:pic>
      <p:pic>
        <p:nvPicPr>
          <p:cNvPr id="28" name="Picture 27" descr="image.png"/>
          <p:cNvPicPr>
            <a:picLocks noChangeAspect="1"/>
          </p:cNvPicPr>
          <p:nvPr/>
        </p:nvPicPr>
        <p:blipFill>
          <a:blip r:embed="rId15"/>
          <a:stretch>
            <a:fillRect/>
          </a:stretch>
        </p:blipFill>
        <p:spPr>
          <a:xfrm>
            <a:off x="8456562" y="2038350"/>
            <a:ext cx="257175" cy="228600"/>
          </a:xfrm>
          <a:prstGeom prst="rect">
            <a:avLst/>
          </a:prstGeom>
        </p:spPr>
      </p:pic>
      <p:pic>
        <p:nvPicPr>
          <p:cNvPr id="29" name="Picture 28" descr="image.png"/>
          <p:cNvPicPr>
            <a:picLocks noChangeAspect="1"/>
          </p:cNvPicPr>
          <p:nvPr/>
        </p:nvPicPr>
        <p:blipFill>
          <a:blip r:embed="rId16"/>
          <a:stretch>
            <a:fillRect/>
          </a:stretch>
        </p:blipFill>
        <p:spPr>
          <a:xfrm>
            <a:off x="952500" y="4543425"/>
            <a:ext cx="228600" cy="228600"/>
          </a:xfrm>
          <a:prstGeom prst="rect">
            <a:avLst/>
          </a:prstGeom>
        </p:spPr>
      </p:pic>
      <p:pic>
        <p:nvPicPr>
          <p:cNvPr id="30" name="Picture 29" descr="image.png"/>
          <p:cNvPicPr>
            <a:picLocks noChangeAspect="1"/>
          </p:cNvPicPr>
          <p:nvPr/>
        </p:nvPicPr>
        <p:blipFill>
          <a:blip r:embed="rId17"/>
          <a:stretch>
            <a:fillRect/>
          </a:stretch>
        </p:blipFill>
        <p:spPr>
          <a:xfrm>
            <a:off x="4711600" y="4543425"/>
            <a:ext cx="228600" cy="228600"/>
          </a:xfrm>
          <a:prstGeom prst="rect">
            <a:avLst/>
          </a:prstGeom>
        </p:spPr>
      </p:pic>
      <p:pic>
        <p:nvPicPr>
          <p:cNvPr id="31" name="Picture 30" descr="image.png"/>
          <p:cNvPicPr>
            <a:picLocks noChangeAspect="1"/>
          </p:cNvPicPr>
          <p:nvPr/>
        </p:nvPicPr>
        <p:blipFill>
          <a:blip r:embed="rId18"/>
          <a:stretch>
            <a:fillRect/>
          </a:stretch>
        </p:blipFill>
        <p:spPr>
          <a:xfrm>
            <a:off x="8470850" y="4543425"/>
            <a:ext cx="228600" cy="228600"/>
          </a:xfrm>
          <a:prstGeom prst="rect">
            <a:avLst/>
          </a:prstGeom>
        </p:spPr>
      </p:pic>
      <p:sp>
        <p:nvSpPr>
          <p:cNvPr id="32" name="Rounded Rectangle 31"/>
          <p:cNvSpPr/>
          <p:nvPr/>
        </p:nvSpPr>
        <p:spPr>
          <a:xfrm>
            <a:off x="-3858" y="1185863"/>
            <a:ext cx="2141316" cy="409575"/>
          </a:xfrm>
          <a:prstGeom prst="roundRect">
            <a:avLst>
              <a:gd name="adj" fmla="val 50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38221" y="770560"/>
            <a:ext cx="11601450" cy="485775"/>
          </a:xfrm>
          <a:prstGeom prst="rect">
            <a:avLst/>
          </a:prstGeom>
          <a:noFill/>
        </p:spPr>
        <p:txBody>
          <a:bodyPr wrap="square" lIns="0" tIns="0" rIns="0" bIns="0" anchor="ctr">
            <a:spAutoFit/>
          </a:bodyPr>
          <a:lstStyle/>
          <a:p>
            <a:pPr algn="l"/>
            <a:r>
              <a:rPr sz="2550" b="1" i="0" u="none">
                <a:solidFill>
                  <a:srgbClr val="0F172A"/>
                </a:solidFill>
                <a:latin typeface="Poppins"/>
              </a:rPr>
              <a:t>Strategic Objectives</a:t>
            </a:r>
          </a:p>
        </p:txBody>
      </p:sp>
      <p:sp>
        <p:nvSpPr>
          <p:cNvPr id="34" name="Rounded Rectangle 33"/>
          <p:cNvSpPr/>
          <p:nvPr/>
        </p:nvSpPr>
        <p:spPr>
          <a:xfrm>
            <a:off x="571500" y="1371600"/>
            <a:ext cx="57150" cy="30480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71500" y="2547937"/>
            <a:ext cx="2590800" cy="2476500"/>
          </a:xfrm>
          <a:prstGeom prst="rect">
            <a:avLst/>
          </a:prstGeom>
        </p:spPr>
      </p:pic>
      <p:pic>
        <p:nvPicPr>
          <p:cNvPr id="3" name="Picture 2" descr="image.png"/>
          <p:cNvPicPr>
            <a:picLocks noChangeAspect="1"/>
          </p:cNvPicPr>
          <p:nvPr/>
        </p:nvPicPr>
        <p:blipFill>
          <a:blip r:embed="rId3"/>
          <a:stretch>
            <a:fillRect/>
          </a:stretch>
        </p:blipFill>
        <p:spPr>
          <a:xfrm>
            <a:off x="3390900" y="2547937"/>
            <a:ext cx="2590800" cy="2476500"/>
          </a:xfrm>
          <a:prstGeom prst="rect">
            <a:avLst/>
          </a:prstGeom>
        </p:spPr>
      </p:pic>
      <p:pic>
        <p:nvPicPr>
          <p:cNvPr id="4" name="Picture 3" descr="image.png"/>
          <p:cNvPicPr>
            <a:picLocks noChangeAspect="1"/>
          </p:cNvPicPr>
          <p:nvPr/>
        </p:nvPicPr>
        <p:blipFill>
          <a:blip r:embed="rId3"/>
          <a:stretch>
            <a:fillRect/>
          </a:stretch>
        </p:blipFill>
        <p:spPr>
          <a:xfrm>
            <a:off x="6210300" y="2547937"/>
            <a:ext cx="2590800" cy="2476500"/>
          </a:xfrm>
          <a:prstGeom prst="rect">
            <a:avLst/>
          </a:prstGeom>
        </p:spPr>
      </p:pic>
      <p:pic>
        <p:nvPicPr>
          <p:cNvPr id="5" name="Picture 4" descr="image.png"/>
          <p:cNvPicPr>
            <a:picLocks noChangeAspect="1"/>
          </p:cNvPicPr>
          <p:nvPr/>
        </p:nvPicPr>
        <p:blipFill>
          <a:blip r:embed="rId4"/>
          <a:stretch>
            <a:fillRect/>
          </a:stretch>
        </p:blipFill>
        <p:spPr>
          <a:xfrm>
            <a:off x="9029700" y="2547937"/>
            <a:ext cx="2590800" cy="2476500"/>
          </a:xfrm>
          <a:prstGeom prst="rect">
            <a:avLst/>
          </a:prstGeom>
        </p:spPr>
      </p:pic>
      <p:pic>
        <p:nvPicPr>
          <p:cNvPr id="6" name="Picture 5" descr="image.png"/>
          <p:cNvPicPr>
            <a:picLocks noChangeAspect="1"/>
          </p:cNvPicPr>
          <p:nvPr/>
        </p:nvPicPr>
        <p:blipFill>
          <a:blip r:embed="rId5"/>
          <a:stretch>
            <a:fillRect/>
          </a:stretch>
        </p:blipFill>
        <p:spPr>
          <a:xfrm>
            <a:off x="1609725" y="2843212"/>
            <a:ext cx="514350" cy="514350"/>
          </a:xfrm>
          <a:prstGeom prst="rect">
            <a:avLst/>
          </a:prstGeom>
        </p:spPr>
      </p:pic>
      <p:sp>
        <p:nvSpPr>
          <p:cNvPr id="7" name="TextBox 6"/>
          <p:cNvSpPr txBox="1"/>
          <p:nvPr/>
        </p:nvSpPr>
        <p:spPr>
          <a:xfrm>
            <a:off x="986790" y="3548062"/>
            <a:ext cx="1760220" cy="285750"/>
          </a:xfrm>
          <a:prstGeom prst="rect">
            <a:avLst/>
          </a:prstGeom>
          <a:noFill/>
        </p:spPr>
        <p:txBody>
          <a:bodyPr wrap="square" lIns="0" tIns="0" rIns="0" bIns="0" anchor="t">
            <a:spAutoFit/>
          </a:bodyPr>
          <a:lstStyle/>
          <a:p>
            <a:pPr algn="ctr"/>
            <a:r>
              <a:rPr sz="1500" b="0" i="0" u="none">
                <a:solidFill>
                  <a:srgbClr val="0F172A"/>
                </a:solidFill>
                <a:latin typeface="Poppins SemiBold"/>
              </a:rPr>
              <a:t>Power BI Desktop</a:t>
            </a:r>
          </a:p>
        </p:txBody>
      </p:sp>
      <p:sp>
        <p:nvSpPr>
          <p:cNvPr id="8" name="TextBox 7"/>
          <p:cNvSpPr txBox="1"/>
          <p:nvPr/>
        </p:nvSpPr>
        <p:spPr>
          <a:xfrm>
            <a:off x="809625" y="3929062"/>
            <a:ext cx="2114550" cy="600075"/>
          </a:xfrm>
          <a:prstGeom prst="rect">
            <a:avLst/>
          </a:prstGeom>
          <a:noFill/>
        </p:spPr>
        <p:txBody>
          <a:bodyPr wrap="square" lIns="0" tIns="0" rIns="0" bIns="0" anchor="t">
            <a:spAutoFit/>
          </a:bodyPr>
          <a:lstStyle/>
          <a:p>
            <a:pPr algn="ctr">
              <a:lnSpc>
                <a:spcPts val="1575"/>
              </a:lnSpc>
            </a:pPr>
            <a:r>
              <a:rPr sz="1050" b="0" i="0" u="none">
                <a:solidFill>
                  <a:srgbClr val="64748B"/>
                </a:solidFill>
                <a:latin typeface="Inter"/>
              </a:rPr>
              <a:t>Core platform used for data modeling, visualization design, and executive dashboard layout.</a:t>
            </a:r>
          </a:p>
        </p:txBody>
      </p:sp>
      <p:pic>
        <p:nvPicPr>
          <p:cNvPr id="9" name="Picture 8" descr="image.png"/>
          <p:cNvPicPr>
            <a:picLocks noChangeAspect="1"/>
          </p:cNvPicPr>
          <p:nvPr/>
        </p:nvPicPr>
        <p:blipFill>
          <a:blip r:embed="rId6"/>
          <a:stretch>
            <a:fillRect/>
          </a:stretch>
        </p:blipFill>
        <p:spPr>
          <a:xfrm>
            <a:off x="4429125" y="2843212"/>
            <a:ext cx="514350" cy="514350"/>
          </a:xfrm>
          <a:prstGeom prst="rect">
            <a:avLst/>
          </a:prstGeom>
        </p:spPr>
      </p:pic>
      <p:sp>
        <p:nvSpPr>
          <p:cNvPr id="10" name="TextBox 9"/>
          <p:cNvSpPr txBox="1"/>
          <p:nvPr/>
        </p:nvSpPr>
        <p:spPr>
          <a:xfrm>
            <a:off x="4036218" y="3548062"/>
            <a:ext cx="1300162" cy="285750"/>
          </a:xfrm>
          <a:prstGeom prst="rect">
            <a:avLst/>
          </a:prstGeom>
          <a:noFill/>
        </p:spPr>
        <p:txBody>
          <a:bodyPr wrap="square" lIns="0" tIns="0" rIns="0" bIns="0" anchor="t">
            <a:spAutoFit/>
          </a:bodyPr>
          <a:lstStyle/>
          <a:p>
            <a:pPr algn="ctr"/>
            <a:r>
              <a:rPr sz="1500" b="0" i="0" u="none">
                <a:solidFill>
                  <a:srgbClr val="0F172A"/>
                </a:solidFill>
                <a:latin typeface="Poppins SemiBold"/>
              </a:rPr>
              <a:t>Power Query</a:t>
            </a:r>
          </a:p>
        </p:txBody>
      </p:sp>
      <p:sp>
        <p:nvSpPr>
          <p:cNvPr id="11" name="TextBox 10"/>
          <p:cNvSpPr txBox="1"/>
          <p:nvPr/>
        </p:nvSpPr>
        <p:spPr>
          <a:xfrm>
            <a:off x="3629025" y="3929062"/>
            <a:ext cx="2114550" cy="800100"/>
          </a:xfrm>
          <a:prstGeom prst="rect">
            <a:avLst/>
          </a:prstGeom>
          <a:noFill/>
        </p:spPr>
        <p:txBody>
          <a:bodyPr wrap="square" lIns="0" tIns="0" rIns="0" bIns="0" anchor="t">
            <a:spAutoFit/>
          </a:bodyPr>
          <a:lstStyle/>
          <a:p>
            <a:pPr algn="ctr">
              <a:lnSpc>
                <a:spcPts val="1575"/>
              </a:lnSpc>
            </a:pPr>
            <a:r>
              <a:rPr sz="1050" b="0" i="0" u="none">
                <a:solidFill>
                  <a:srgbClr val="64748B"/>
                </a:solidFill>
                <a:latin typeface="Inter"/>
              </a:rPr>
              <a:t>ETL tool utilized for data cleansing, custom column transformations, and type definitions.</a:t>
            </a:r>
          </a:p>
        </p:txBody>
      </p:sp>
      <p:pic>
        <p:nvPicPr>
          <p:cNvPr id="12" name="Picture 11" descr="image.png"/>
          <p:cNvPicPr>
            <a:picLocks noChangeAspect="1"/>
          </p:cNvPicPr>
          <p:nvPr/>
        </p:nvPicPr>
        <p:blipFill>
          <a:blip r:embed="rId7"/>
          <a:stretch>
            <a:fillRect/>
          </a:stretch>
        </p:blipFill>
        <p:spPr>
          <a:xfrm>
            <a:off x="7248525" y="2843212"/>
            <a:ext cx="514350" cy="514350"/>
          </a:xfrm>
          <a:prstGeom prst="rect">
            <a:avLst/>
          </a:prstGeom>
        </p:spPr>
      </p:pic>
      <p:sp>
        <p:nvSpPr>
          <p:cNvPr id="13" name="TextBox 12"/>
          <p:cNvSpPr txBox="1"/>
          <p:nvPr/>
        </p:nvSpPr>
        <p:spPr>
          <a:xfrm>
            <a:off x="6750605" y="3548062"/>
            <a:ext cx="1510188" cy="285750"/>
          </a:xfrm>
          <a:prstGeom prst="rect">
            <a:avLst/>
          </a:prstGeom>
          <a:noFill/>
        </p:spPr>
        <p:txBody>
          <a:bodyPr wrap="square" lIns="0" tIns="0" rIns="0" bIns="0" anchor="t">
            <a:spAutoFit/>
          </a:bodyPr>
          <a:lstStyle/>
          <a:p>
            <a:pPr algn="ctr"/>
            <a:r>
              <a:rPr sz="1500" b="0" i="0" u="none">
                <a:solidFill>
                  <a:srgbClr val="0F172A"/>
                </a:solidFill>
                <a:latin typeface="Poppins SemiBold"/>
              </a:rPr>
              <a:t>DAX Language</a:t>
            </a:r>
          </a:p>
        </p:txBody>
      </p:sp>
      <p:sp>
        <p:nvSpPr>
          <p:cNvPr id="14" name="TextBox 13"/>
          <p:cNvSpPr txBox="1"/>
          <p:nvPr/>
        </p:nvSpPr>
        <p:spPr>
          <a:xfrm>
            <a:off x="6448425" y="3929062"/>
            <a:ext cx="2114550" cy="600075"/>
          </a:xfrm>
          <a:prstGeom prst="rect">
            <a:avLst/>
          </a:prstGeom>
          <a:noFill/>
        </p:spPr>
        <p:txBody>
          <a:bodyPr wrap="square" lIns="0" tIns="0" rIns="0" bIns="0" anchor="t">
            <a:spAutoFit/>
          </a:bodyPr>
          <a:lstStyle/>
          <a:p>
            <a:pPr algn="ctr">
              <a:lnSpc>
                <a:spcPts val="1575"/>
              </a:lnSpc>
            </a:pPr>
            <a:r>
              <a:rPr sz="1050" b="0" i="0" u="none">
                <a:solidFill>
                  <a:srgbClr val="64748B"/>
                </a:solidFill>
                <a:latin typeface="Inter"/>
              </a:rPr>
              <a:t>Engine used to compute complex KPIs, measures, aggregated metrics, and conditional ratios.</a:t>
            </a:r>
          </a:p>
        </p:txBody>
      </p:sp>
      <p:pic>
        <p:nvPicPr>
          <p:cNvPr id="15" name="Picture 14" descr="image.png"/>
          <p:cNvPicPr>
            <a:picLocks noChangeAspect="1"/>
          </p:cNvPicPr>
          <p:nvPr/>
        </p:nvPicPr>
        <p:blipFill>
          <a:blip r:embed="rId8"/>
          <a:stretch>
            <a:fillRect/>
          </a:stretch>
        </p:blipFill>
        <p:spPr>
          <a:xfrm>
            <a:off x="10067925" y="2843212"/>
            <a:ext cx="514350" cy="514350"/>
          </a:xfrm>
          <a:prstGeom prst="rect">
            <a:avLst/>
          </a:prstGeom>
        </p:spPr>
      </p:pic>
      <p:sp>
        <p:nvSpPr>
          <p:cNvPr id="16" name="TextBox 15"/>
          <p:cNvSpPr txBox="1"/>
          <p:nvPr/>
        </p:nvSpPr>
        <p:spPr>
          <a:xfrm>
            <a:off x="9550003" y="3548062"/>
            <a:ext cx="1550193" cy="285750"/>
          </a:xfrm>
          <a:prstGeom prst="rect">
            <a:avLst/>
          </a:prstGeom>
          <a:noFill/>
        </p:spPr>
        <p:txBody>
          <a:bodyPr wrap="square" lIns="0" tIns="0" rIns="0" bIns="0" anchor="t">
            <a:spAutoFit/>
          </a:bodyPr>
          <a:lstStyle/>
          <a:p>
            <a:pPr algn="ctr"/>
            <a:r>
              <a:rPr sz="1500" b="0" i="0" u="none">
                <a:solidFill>
                  <a:srgbClr val="0F172A"/>
                </a:solidFill>
                <a:latin typeface="Poppins SemiBold"/>
              </a:rPr>
              <a:t>IBM HR Dataset</a:t>
            </a:r>
          </a:p>
        </p:txBody>
      </p:sp>
      <p:sp>
        <p:nvSpPr>
          <p:cNvPr id="17" name="TextBox 16"/>
          <p:cNvSpPr txBox="1"/>
          <p:nvPr/>
        </p:nvSpPr>
        <p:spPr>
          <a:xfrm>
            <a:off x="9267825" y="3929062"/>
            <a:ext cx="2114550" cy="800100"/>
          </a:xfrm>
          <a:prstGeom prst="rect">
            <a:avLst/>
          </a:prstGeom>
          <a:noFill/>
        </p:spPr>
        <p:txBody>
          <a:bodyPr wrap="square" lIns="0" tIns="0" rIns="0" bIns="0" anchor="t">
            <a:spAutoFit/>
          </a:bodyPr>
          <a:lstStyle/>
          <a:p>
            <a:pPr algn="ctr">
              <a:lnSpc>
                <a:spcPts val="1575"/>
              </a:lnSpc>
            </a:pPr>
            <a:r>
              <a:rPr sz="1050" b="0" i="0" u="none">
                <a:solidFill>
                  <a:srgbClr val="64748B"/>
                </a:solidFill>
                <a:latin typeface="Inter"/>
              </a:rPr>
              <a:t>Rich underlying dataset containing comprehensive demographic, income, and performance metrics.</a:t>
            </a:r>
          </a:p>
        </p:txBody>
      </p:sp>
      <p:pic>
        <p:nvPicPr>
          <p:cNvPr id="18" name="Picture 17" descr="image.png"/>
          <p:cNvPicPr>
            <a:picLocks noChangeAspect="1"/>
          </p:cNvPicPr>
          <p:nvPr/>
        </p:nvPicPr>
        <p:blipFill>
          <a:blip r:embed="rId9"/>
          <a:stretch>
            <a:fillRect/>
          </a:stretch>
        </p:blipFill>
        <p:spPr>
          <a:xfrm>
            <a:off x="1752600" y="2986087"/>
            <a:ext cx="228600" cy="228600"/>
          </a:xfrm>
          <a:prstGeom prst="rect">
            <a:avLst/>
          </a:prstGeom>
        </p:spPr>
      </p:pic>
      <p:pic>
        <p:nvPicPr>
          <p:cNvPr id="19" name="Picture 18" descr="image.png"/>
          <p:cNvPicPr>
            <a:picLocks noChangeAspect="1"/>
          </p:cNvPicPr>
          <p:nvPr/>
        </p:nvPicPr>
        <p:blipFill>
          <a:blip r:embed="rId10"/>
          <a:stretch>
            <a:fillRect/>
          </a:stretch>
        </p:blipFill>
        <p:spPr>
          <a:xfrm>
            <a:off x="4557712" y="2986087"/>
            <a:ext cx="257175" cy="228600"/>
          </a:xfrm>
          <a:prstGeom prst="rect">
            <a:avLst/>
          </a:prstGeom>
        </p:spPr>
      </p:pic>
      <p:pic>
        <p:nvPicPr>
          <p:cNvPr id="20" name="Picture 19" descr="image.png"/>
          <p:cNvPicPr>
            <a:picLocks noChangeAspect="1"/>
          </p:cNvPicPr>
          <p:nvPr/>
        </p:nvPicPr>
        <p:blipFill>
          <a:blip r:embed="rId11"/>
          <a:stretch>
            <a:fillRect/>
          </a:stretch>
        </p:blipFill>
        <p:spPr>
          <a:xfrm>
            <a:off x="7419975" y="2986087"/>
            <a:ext cx="171450" cy="228600"/>
          </a:xfrm>
          <a:prstGeom prst="rect">
            <a:avLst/>
          </a:prstGeom>
        </p:spPr>
      </p:pic>
      <p:pic>
        <p:nvPicPr>
          <p:cNvPr id="21" name="Picture 20" descr="image.png"/>
          <p:cNvPicPr>
            <a:picLocks noChangeAspect="1"/>
          </p:cNvPicPr>
          <p:nvPr/>
        </p:nvPicPr>
        <p:blipFill>
          <a:blip r:embed="rId12"/>
          <a:stretch>
            <a:fillRect/>
          </a:stretch>
        </p:blipFill>
        <p:spPr>
          <a:xfrm>
            <a:off x="10225087" y="2986087"/>
            <a:ext cx="200025" cy="228600"/>
          </a:xfrm>
          <a:prstGeom prst="rect">
            <a:avLst/>
          </a:prstGeom>
        </p:spPr>
      </p:pic>
      <p:sp>
        <p:nvSpPr>
          <p:cNvPr id="22" name="TextBox 21"/>
          <p:cNvSpPr txBox="1"/>
          <p:nvPr/>
        </p:nvSpPr>
        <p:spPr>
          <a:xfrm>
            <a:off x="571500" y="476250"/>
            <a:ext cx="11601450" cy="485775"/>
          </a:xfrm>
          <a:prstGeom prst="rect">
            <a:avLst/>
          </a:prstGeom>
          <a:noFill/>
        </p:spPr>
        <p:txBody>
          <a:bodyPr wrap="square" lIns="0" tIns="0" rIns="0" bIns="0" anchor="ctr">
            <a:spAutoFit/>
          </a:bodyPr>
          <a:lstStyle/>
          <a:p>
            <a:pPr algn="l"/>
            <a:r>
              <a:rPr sz="2550" b="1" i="0" u="none">
                <a:solidFill>
                  <a:srgbClr val="0F172A"/>
                </a:solidFill>
                <a:latin typeface="Poppins"/>
              </a:rPr>
              <a:t>Technology Stack</a:t>
            </a:r>
          </a:p>
        </p:txBody>
      </p:sp>
      <p:sp>
        <p:nvSpPr>
          <p:cNvPr id="23" name="Rounded Rectangle 22"/>
          <p:cNvSpPr/>
          <p:nvPr/>
        </p:nvSpPr>
        <p:spPr>
          <a:xfrm>
            <a:off x="571500" y="962025"/>
            <a:ext cx="57150" cy="30480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71500" y="3314700"/>
            <a:ext cx="3530500" cy="1419225"/>
          </a:xfrm>
          <a:prstGeom prst="rect">
            <a:avLst/>
          </a:prstGeom>
        </p:spPr>
      </p:pic>
      <p:pic>
        <p:nvPicPr>
          <p:cNvPr id="3" name="Picture 2" descr="image.png"/>
          <p:cNvPicPr>
            <a:picLocks noChangeAspect="1"/>
          </p:cNvPicPr>
          <p:nvPr/>
        </p:nvPicPr>
        <p:blipFill>
          <a:blip r:embed="rId3"/>
          <a:stretch>
            <a:fillRect/>
          </a:stretch>
        </p:blipFill>
        <p:spPr>
          <a:xfrm>
            <a:off x="4330600" y="3314700"/>
            <a:ext cx="3530649" cy="1419225"/>
          </a:xfrm>
          <a:prstGeom prst="rect">
            <a:avLst/>
          </a:prstGeom>
        </p:spPr>
      </p:pic>
      <p:pic>
        <p:nvPicPr>
          <p:cNvPr id="4" name="Picture 3" descr="image.png"/>
          <p:cNvPicPr>
            <a:picLocks noChangeAspect="1"/>
          </p:cNvPicPr>
          <p:nvPr/>
        </p:nvPicPr>
        <p:blipFill>
          <a:blip r:embed="rId4"/>
          <a:stretch>
            <a:fillRect/>
          </a:stretch>
        </p:blipFill>
        <p:spPr>
          <a:xfrm>
            <a:off x="8089850" y="3314700"/>
            <a:ext cx="3530500" cy="1419225"/>
          </a:xfrm>
          <a:prstGeom prst="rect">
            <a:avLst/>
          </a:prstGeom>
        </p:spPr>
      </p:pic>
      <p:pic>
        <p:nvPicPr>
          <p:cNvPr id="5" name="Picture 4" descr="image.png"/>
          <p:cNvPicPr>
            <a:picLocks noChangeAspect="1"/>
          </p:cNvPicPr>
          <p:nvPr/>
        </p:nvPicPr>
        <p:blipFill>
          <a:blip r:embed="rId5"/>
          <a:stretch>
            <a:fillRect/>
          </a:stretch>
        </p:blipFill>
        <p:spPr>
          <a:xfrm>
            <a:off x="571500" y="4962525"/>
            <a:ext cx="3530500" cy="1419225"/>
          </a:xfrm>
          <a:prstGeom prst="rect">
            <a:avLst/>
          </a:prstGeom>
        </p:spPr>
      </p:pic>
      <p:pic>
        <p:nvPicPr>
          <p:cNvPr id="6" name="Picture 5" descr="image.png"/>
          <p:cNvPicPr>
            <a:picLocks noChangeAspect="1"/>
          </p:cNvPicPr>
          <p:nvPr/>
        </p:nvPicPr>
        <p:blipFill>
          <a:blip r:embed="rId6"/>
          <a:stretch>
            <a:fillRect/>
          </a:stretch>
        </p:blipFill>
        <p:spPr>
          <a:xfrm>
            <a:off x="4330600" y="4962525"/>
            <a:ext cx="3530649" cy="1419225"/>
          </a:xfrm>
          <a:prstGeom prst="rect">
            <a:avLst/>
          </a:prstGeom>
        </p:spPr>
      </p:pic>
      <p:pic>
        <p:nvPicPr>
          <p:cNvPr id="7" name="Picture 6" descr="image.png"/>
          <p:cNvPicPr>
            <a:picLocks noChangeAspect="1"/>
          </p:cNvPicPr>
          <p:nvPr/>
        </p:nvPicPr>
        <p:blipFill>
          <a:blip r:embed="rId7"/>
          <a:stretch>
            <a:fillRect/>
          </a:stretch>
        </p:blipFill>
        <p:spPr>
          <a:xfrm>
            <a:off x="8089850" y="4962525"/>
            <a:ext cx="3530500" cy="1419225"/>
          </a:xfrm>
          <a:prstGeom prst="rect">
            <a:avLst/>
          </a:prstGeom>
        </p:spPr>
      </p:pic>
      <p:sp>
        <p:nvSpPr>
          <p:cNvPr id="8" name="TextBox 7"/>
          <p:cNvSpPr txBox="1"/>
          <p:nvPr/>
        </p:nvSpPr>
        <p:spPr>
          <a:xfrm>
            <a:off x="809625" y="3590925"/>
            <a:ext cx="3054250" cy="180975"/>
          </a:xfrm>
          <a:prstGeom prst="rect">
            <a:avLst/>
          </a:prstGeom>
          <a:noFill/>
        </p:spPr>
        <p:txBody>
          <a:bodyPr wrap="square" lIns="0" tIns="0" rIns="0" bIns="0" anchor="t">
            <a:spAutoFit/>
          </a:bodyPr>
          <a:lstStyle/>
          <a:p>
            <a:pPr algn="ctr"/>
            <a:r>
              <a:rPr sz="1125" b="0" i="0" u="none">
                <a:solidFill>
                  <a:srgbClr val="64748B"/>
                </a:solidFill>
                <a:latin typeface="Inter SemiBold"/>
              </a:rPr>
              <a:t>TOTAL HEADCOUNT</a:t>
            </a:r>
          </a:p>
        </p:txBody>
      </p:sp>
      <p:sp>
        <p:nvSpPr>
          <p:cNvPr id="9" name="TextBox 8"/>
          <p:cNvSpPr txBox="1"/>
          <p:nvPr/>
        </p:nvSpPr>
        <p:spPr>
          <a:xfrm>
            <a:off x="809625" y="3848100"/>
            <a:ext cx="3054250" cy="400050"/>
          </a:xfrm>
          <a:prstGeom prst="rect">
            <a:avLst/>
          </a:prstGeom>
          <a:noFill/>
        </p:spPr>
        <p:txBody>
          <a:bodyPr wrap="square" lIns="0" tIns="0" rIns="0" bIns="0" anchor="t">
            <a:spAutoFit/>
          </a:bodyPr>
          <a:lstStyle/>
          <a:p>
            <a:pPr algn="ctr">
              <a:lnSpc>
                <a:spcPts val="3150"/>
              </a:lnSpc>
            </a:pPr>
            <a:r>
              <a:rPr sz="3150" b="1" i="0" u="none">
                <a:solidFill>
                  <a:srgbClr val="0F172A"/>
                </a:solidFill>
                <a:latin typeface="Poppins"/>
              </a:rPr>
              <a:t>1,470</a:t>
            </a:r>
          </a:p>
        </p:txBody>
      </p:sp>
      <p:sp>
        <p:nvSpPr>
          <p:cNvPr id="10" name="TextBox 9"/>
          <p:cNvSpPr txBox="1"/>
          <p:nvPr/>
        </p:nvSpPr>
        <p:spPr>
          <a:xfrm>
            <a:off x="809625" y="4305300"/>
            <a:ext cx="3054250" cy="152400"/>
          </a:xfrm>
          <a:prstGeom prst="rect">
            <a:avLst/>
          </a:prstGeom>
          <a:noFill/>
        </p:spPr>
        <p:txBody>
          <a:bodyPr wrap="square" lIns="0" tIns="0" rIns="0" bIns="0" anchor="t">
            <a:spAutoFit/>
          </a:bodyPr>
          <a:lstStyle/>
          <a:p>
            <a:pPr algn="ctr"/>
            <a:r>
              <a:rPr sz="975" b="0" i="0" u="none">
                <a:solidFill>
                  <a:srgbClr val="94A3B8"/>
                </a:solidFill>
                <a:latin typeface="Inter"/>
              </a:rPr>
              <a:t>Total workforce volume evaluated</a:t>
            </a:r>
          </a:p>
        </p:txBody>
      </p:sp>
      <p:sp>
        <p:nvSpPr>
          <p:cNvPr id="11" name="TextBox 10"/>
          <p:cNvSpPr txBox="1"/>
          <p:nvPr/>
        </p:nvSpPr>
        <p:spPr>
          <a:xfrm>
            <a:off x="4568725" y="3590925"/>
            <a:ext cx="3054399" cy="180975"/>
          </a:xfrm>
          <a:prstGeom prst="rect">
            <a:avLst/>
          </a:prstGeom>
          <a:noFill/>
        </p:spPr>
        <p:txBody>
          <a:bodyPr wrap="square" lIns="0" tIns="0" rIns="0" bIns="0" anchor="t">
            <a:spAutoFit/>
          </a:bodyPr>
          <a:lstStyle/>
          <a:p>
            <a:pPr algn="ctr"/>
            <a:r>
              <a:rPr sz="1125" b="0" i="0" u="none">
                <a:solidFill>
                  <a:srgbClr val="64748B"/>
                </a:solidFill>
                <a:latin typeface="Inter SemiBold"/>
              </a:rPr>
              <a:t>ATTRITION COUNT</a:t>
            </a:r>
          </a:p>
        </p:txBody>
      </p:sp>
      <p:sp>
        <p:nvSpPr>
          <p:cNvPr id="12" name="TextBox 11"/>
          <p:cNvSpPr txBox="1"/>
          <p:nvPr/>
        </p:nvSpPr>
        <p:spPr>
          <a:xfrm>
            <a:off x="4568725" y="3848100"/>
            <a:ext cx="3054399" cy="400050"/>
          </a:xfrm>
          <a:prstGeom prst="rect">
            <a:avLst/>
          </a:prstGeom>
          <a:noFill/>
        </p:spPr>
        <p:txBody>
          <a:bodyPr wrap="square" lIns="0" tIns="0" rIns="0" bIns="0" anchor="t">
            <a:spAutoFit/>
          </a:bodyPr>
          <a:lstStyle/>
          <a:p>
            <a:pPr algn="ctr">
              <a:lnSpc>
                <a:spcPts val="3150"/>
              </a:lnSpc>
            </a:pPr>
            <a:r>
              <a:rPr sz="3150" b="1" i="0" u="none">
                <a:solidFill>
                  <a:srgbClr val="E11D48"/>
                </a:solidFill>
                <a:latin typeface="Poppins"/>
              </a:rPr>
              <a:t>237</a:t>
            </a:r>
          </a:p>
        </p:txBody>
      </p:sp>
      <p:sp>
        <p:nvSpPr>
          <p:cNvPr id="13" name="TextBox 12"/>
          <p:cNvSpPr txBox="1"/>
          <p:nvPr/>
        </p:nvSpPr>
        <p:spPr>
          <a:xfrm>
            <a:off x="4568725" y="4305300"/>
            <a:ext cx="3054399" cy="152400"/>
          </a:xfrm>
          <a:prstGeom prst="rect">
            <a:avLst/>
          </a:prstGeom>
          <a:noFill/>
        </p:spPr>
        <p:txBody>
          <a:bodyPr wrap="square" lIns="0" tIns="0" rIns="0" bIns="0" anchor="t">
            <a:spAutoFit/>
          </a:bodyPr>
          <a:lstStyle/>
          <a:p>
            <a:pPr algn="ctr"/>
            <a:r>
              <a:rPr sz="975" b="0" i="0" u="none">
                <a:solidFill>
                  <a:srgbClr val="94A3B8"/>
                </a:solidFill>
                <a:latin typeface="Inter"/>
              </a:rPr>
              <a:t>Total employees who departed</a:t>
            </a:r>
          </a:p>
        </p:txBody>
      </p:sp>
      <p:sp>
        <p:nvSpPr>
          <p:cNvPr id="14" name="TextBox 13"/>
          <p:cNvSpPr txBox="1"/>
          <p:nvPr/>
        </p:nvSpPr>
        <p:spPr>
          <a:xfrm>
            <a:off x="8327975" y="3590925"/>
            <a:ext cx="3054250" cy="180975"/>
          </a:xfrm>
          <a:prstGeom prst="rect">
            <a:avLst/>
          </a:prstGeom>
          <a:noFill/>
        </p:spPr>
        <p:txBody>
          <a:bodyPr wrap="square" lIns="0" tIns="0" rIns="0" bIns="0" anchor="t">
            <a:spAutoFit/>
          </a:bodyPr>
          <a:lstStyle/>
          <a:p>
            <a:pPr algn="ctr"/>
            <a:r>
              <a:rPr sz="1125" b="0" i="0" u="none">
                <a:solidFill>
                  <a:srgbClr val="64748B"/>
                </a:solidFill>
                <a:latin typeface="Inter SemiBold"/>
              </a:rPr>
              <a:t>ATTRITION RATE</a:t>
            </a:r>
          </a:p>
        </p:txBody>
      </p:sp>
      <p:sp>
        <p:nvSpPr>
          <p:cNvPr id="15" name="TextBox 14"/>
          <p:cNvSpPr txBox="1"/>
          <p:nvPr/>
        </p:nvSpPr>
        <p:spPr>
          <a:xfrm>
            <a:off x="8327975" y="3848100"/>
            <a:ext cx="3054250" cy="400050"/>
          </a:xfrm>
          <a:prstGeom prst="rect">
            <a:avLst/>
          </a:prstGeom>
          <a:noFill/>
        </p:spPr>
        <p:txBody>
          <a:bodyPr wrap="square" lIns="0" tIns="0" rIns="0" bIns="0" anchor="t">
            <a:spAutoFit/>
          </a:bodyPr>
          <a:lstStyle/>
          <a:p>
            <a:pPr algn="ctr">
              <a:lnSpc>
                <a:spcPts val="3150"/>
              </a:lnSpc>
            </a:pPr>
            <a:r>
              <a:rPr sz="3150" b="1" i="0" u="none">
                <a:solidFill>
                  <a:srgbClr val="E11D48"/>
                </a:solidFill>
                <a:latin typeface="Poppins"/>
              </a:rPr>
              <a:t>16.1%</a:t>
            </a:r>
          </a:p>
        </p:txBody>
      </p:sp>
      <p:sp>
        <p:nvSpPr>
          <p:cNvPr id="16" name="TextBox 15"/>
          <p:cNvSpPr txBox="1"/>
          <p:nvPr/>
        </p:nvSpPr>
        <p:spPr>
          <a:xfrm>
            <a:off x="8327975" y="4305300"/>
            <a:ext cx="3054250" cy="152400"/>
          </a:xfrm>
          <a:prstGeom prst="rect">
            <a:avLst/>
          </a:prstGeom>
          <a:noFill/>
        </p:spPr>
        <p:txBody>
          <a:bodyPr wrap="square" lIns="0" tIns="0" rIns="0" bIns="0" anchor="t">
            <a:spAutoFit/>
          </a:bodyPr>
          <a:lstStyle/>
          <a:p>
            <a:pPr algn="ctr"/>
            <a:r>
              <a:rPr sz="975" b="0" i="0" u="none">
                <a:solidFill>
                  <a:srgbClr val="94A3B8"/>
                </a:solidFill>
                <a:latin typeface="Inter"/>
              </a:rPr>
              <a:t>Overall organizational turnover</a:t>
            </a:r>
          </a:p>
        </p:txBody>
      </p:sp>
      <p:sp>
        <p:nvSpPr>
          <p:cNvPr id="17" name="TextBox 16"/>
          <p:cNvSpPr txBox="1"/>
          <p:nvPr/>
        </p:nvSpPr>
        <p:spPr>
          <a:xfrm>
            <a:off x="809625" y="5238750"/>
            <a:ext cx="3054250" cy="180975"/>
          </a:xfrm>
          <a:prstGeom prst="rect">
            <a:avLst/>
          </a:prstGeom>
          <a:noFill/>
        </p:spPr>
        <p:txBody>
          <a:bodyPr wrap="square" lIns="0" tIns="0" rIns="0" bIns="0" anchor="t">
            <a:spAutoFit/>
          </a:bodyPr>
          <a:lstStyle/>
          <a:p>
            <a:pPr algn="ctr"/>
            <a:r>
              <a:rPr sz="1125" b="0" i="0" u="none">
                <a:solidFill>
                  <a:srgbClr val="64748B"/>
                </a:solidFill>
                <a:latin typeface="Inter SemiBold"/>
              </a:rPr>
              <a:t>AVERAGE AGE</a:t>
            </a:r>
          </a:p>
        </p:txBody>
      </p:sp>
      <p:sp>
        <p:nvSpPr>
          <p:cNvPr id="18" name="TextBox 17"/>
          <p:cNvSpPr txBox="1"/>
          <p:nvPr/>
        </p:nvSpPr>
        <p:spPr>
          <a:xfrm>
            <a:off x="809625" y="5495925"/>
            <a:ext cx="3054250" cy="400050"/>
          </a:xfrm>
          <a:prstGeom prst="rect">
            <a:avLst/>
          </a:prstGeom>
          <a:noFill/>
        </p:spPr>
        <p:txBody>
          <a:bodyPr wrap="square" lIns="0" tIns="0" rIns="0" bIns="0" anchor="t">
            <a:spAutoFit/>
          </a:bodyPr>
          <a:lstStyle/>
          <a:p>
            <a:pPr algn="ctr">
              <a:lnSpc>
                <a:spcPts val="3150"/>
              </a:lnSpc>
            </a:pPr>
            <a:r>
              <a:rPr sz="3150" b="1" i="0" u="none">
                <a:solidFill>
                  <a:srgbClr val="0F172A"/>
                </a:solidFill>
                <a:latin typeface="Poppins"/>
              </a:rPr>
              <a:t>36.9</a:t>
            </a:r>
          </a:p>
        </p:txBody>
      </p:sp>
      <p:sp>
        <p:nvSpPr>
          <p:cNvPr id="19" name="TextBox 18"/>
          <p:cNvSpPr txBox="1"/>
          <p:nvPr/>
        </p:nvSpPr>
        <p:spPr>
          <a:xfrm>
            <a:off x="809625" y="5953125"/>
            <a:ext cx="3054250" cy="152400"/>
          </a:xfrm>
          <a:prstGeom prst="rect">
            <a:avLst/>
          </a:prstGeom>
          <a:noFill/>
        </p:spPr>
        <p:txBody>
          <a:bodyPr wrap="square" lIns="0" tIns="0" rIns="0" bIns="0" anchor="t">
            <a:spAutoFit/>
          </a:bodyPr>
          <a:lstStyle/>
          <a:p>
            <a:pPr algn="ctr"/>
            <a:r>
              <a:rPr sz="975" b="0" i="0" u="none">
                <a:solidFill>
                  <a:srgbClr val="94A3B8"/>
                </a:solidFill>
                <a:latin typeface="Inter"/>
              </a:rPr>
              <a:t>Years average employee age</a:t>
            </a:r>
          </a:p>
        </p:txBody>
      </p:sp>
      <p:sp>
        <p:nvSpPr>
          <p:cNvPr id="20" name="TextBox 19"/>
          <p:cNvSpPr txBox="1"/>
          <p:nvPr/>
        </p:nvSpPr>
        <p:spPr>
          <a:xfrm>
            <a:off x="4568725" y="5238750"/>
            <a:ext cx="3054399" cy="180975"/>
          </a:xfrm>
          <a:prstGeom prst="rect">
            <a:avLst/>
          </a:prstGeom>
          <a:noFill/>
        </p:spPr>
        <p:txBody>
          <a:bodyPr wrap="square" lIns="0" tIns="0" rIns="0" bIns="0" anchor="t">
            <a:spAutoFit/>
          </a:bodyPr>
          <a:lstStyle/>
          <a:p>
            <a:pPr algn="ctr"/>
            <a:r>
              <a:rPr sz="1125" b="0" i="0" u="none">
                <a:solidFill>
                  <a:srgbClr val="64748B"/>
                </a:solidFill>
                <a:latin typeface="Inter SemiBold"/>
              </a:rPr>
              <a:t>AVG MONTHLY INCOME</a:t>
            </a:r>
          </a:p>
        </p:txBody>
      </p:sp>
      <p:sp>
        <p:nvSpPr>
          <p:cNvPr id="21" name="TextBox 20"/>
          <p:cNvSpPr txBox="1"/>
          <p:nvPr/>
        </p:nvSpPr>
        <p:spPr>
          <a:xfrm>
            <a:off x="4568725" y="5495925"/>
            <a:ext cx="3054399" cy="400050"/>
          </a:xfrm>
          <a:prstGeom prst="rect">
            <a:avLst/>
          </a:prstGeom>
          <a:noFill/>
        </p:spPr>
        <p:txBody>
          <a:bodyPr wrap="square" lIns="0" tIns="0" rIns="0" bIns="0" anchor="t">
            <a:spAutoFit/>
          </a:bodyPr>
          <a:lstStyle/>
          <a:p>
            <a:pPr algn="ctr">
              <a:lnSpc>
                <a:spcPts val="3150"/>
              </a:lnSpc>
            </a:pPr>
            <a:r>
              <a:rPr sz="3150" b="1" i="0" u="none">
                <a:solidFill>
                  <a:srgbClr val="0F172A"/>
                </a:solidFill>
                <a:latin typeface="Poppins"/>
              </a:rPr>
              <a:t>$6,503</a:t>
            </a:r>
          </a:p>
        </p:txBody>
      </p:sp>
      <p:sp>
        <p:nvSpPr>
          <p:cNvPr id="22" name="TextBox 21"/>
          <p:cNvSpPr txBox="1"/>
          <p:nvPr/>
        </p:nvSpPr>
        <p:spPr>
          <a:xfrm>
            <a:off x="4568725" y="5953125"/>
            <a:ext cx="3054399" cy="152400"/>
          </a:xfrm>
          <a:prstGeom prst="rect">
            <a:avLst/>
          </a:prstGeom>
          <a:noFill/>
        </p:spPr>
        <p:txBody>
          <a:bodyPr wrap="square" lIns="0" tIns="0" rIns="0" bIns="0" anchor="t">
            <a:spAutoFit/>
          </a:bodyPr>
          <a:lstStyle/>
          <a:p>
            <a:pPr algn="ctr"/>
            <a:r>
              <a:rPr sz="975" b="0" i="0" u="none">
                <a:solidFill>
                  <a:srgbClr val="94A3B8"/>
                </a:solidFill>
                <a:latin typeface="Inter"/>
              </a:rPr>
              <a:t>Mean salary across all roles</a:t>
            </a:r>
          </a:p>
        </p:txBody>
      </p:sp>
      <p:sp>
        <p:nvSpPr>
          <p:cNvPr id="23" name="TextBox 22"/>
          <p:cNvSpPr txBox="1"/>
          <p:nvPr/>
        </p:nvSpPr>
        <p:spPr>
          <a:xfrm>
            <a:off x="8327975" y="5238750"/>
            <a:ext cx="3054250" cy="180975"/>
          </a:xfrm>
          <a:prstGeom prst="rect">
            <a:avLst/>
          </a:prstGeom>
          <a:noFill/>
        </p:spPr>
        <p:txBody>
          <a:bodyPr wrap="square" lIns="0" tIns="0" rIns="0" bIns="0" anchor="t">
            <a:spAutoFit/>
          </a:bodyPr>
          <a:lstStyle/>
          <a:p>
            <a:pPr algn="ctr"/>
            <a:r>
              <a:rPr sz="1125" b="0" i="0" u="none">
                <a:solidFill>
                  <a:srgbClr val="64748B"/>
                </a:solidFill>
                <a:latin typeface="Inter SemiBold"/>
              </a:rPr>
              <a:t>AVG JOB SATISFACTION</a:t>
            </a:r>
          </a:p>
        </p:txBody>
      </p:sp>
      <p:sp>
        <p:nvSpPr>
          <p:cNvPr id="24" name="TextBox 23"/>
          <p:cNvSpPr txBox="1"/>
          <p:nvPr/>
        </p:nvSpPr>
        <p:spPr>
          <a:xfrm>
            <a:off x="8327975" y="5495925"/>
            <a:ext cx="3054250" cy="400050"/>
          </a:xfrm>
          <a:prstGeom prst="rect">
            <a:avLst/>
          </a:prstGeom>
          <a:noFill/>
        </p:spPr>
        <p:txBody>
          <a:bodyPr wrap="square" lIns="0" tIns="0" rIns="0" bIns="0" anchor="t">
            <a:spAutoFit/>
          </a:bodyPr>
          <a:lstStyle/>
          <a:p>
            <a:pPr algn="ctr">
              <a:lnSpc>
                <a:spcPts val="3150"/>
              </a:lnSpc>
            </a:pPr>
            <a:r>
              <a:rPr sz="3150" b="1" i="0" u="none">
                <a:solidFill>
                  <a:srgbClr val="0F172A"/>
                </a:solidFill>
                <a:latin typeface="Poppins"/>
              </a:rPr>
              <a:t>2.73 / 4</a:t>
            </a:r>
          </a:p>
        </p:txBody>
      </p:sp>
      <p:sp>
        <p:nvSpPr>
          <p:cNvPr id="25" name="TextBox 24"/>
          <p:cNvSpPr txBox="1"/>
          <p:nvPr/>
        </p:nvSpPr>
        <p:spPr>
          <a:xfrm>
            <a:off x="8327975" y="5953125"/>
            <a:ext cx="3054250" cy="152400"/>
          </a:xfrm>
          <a:prstGeom prst="rect">
            <a:avLst/>
          </a:prstGeom>
          <a:noFill/>
        </p:spPr>
        <p:txBody>
          <a:bodyPr wrap="square" lIns="0" tIns="0" rIns="0" bIns="0" anchor="t">
            <a:spAutoFit/>
          </a:bodyPr>
          <a:lstStyle/>
          <a:p>
            <a:pPr algn="ctr"/>
            <a:r>
              <a:rPr sz="975" b="0" i="0" u="none">
                <a:solidFill>
                  <a:srgbClr val="94A3B8"/>
                </a:solidFill>
                <a:latin typeface="Inter"/>
              </a:rPr>
              <a:t>Overall engagement score index</a:t>
            </a:r>
          </a:p>
        </p:txBody>
      </p:sp>
      <p:sp>
        <p:nvSpPr>
          <p:cNvPr id="26" name="Rounded Rectangle 25"/>
          <p:cNvSpPr/>
          <p:nvPr/>
        </p:nvSpPr>
        <p:spPr>
          <a:xfrm>
            <a:off x="1524000" y="-476250"/>
            <a:ext cx="3619500" cy="2124075"/>
          </a:xfrm>
          <a:prstGeom prst="roundRect">
            <a:avLst>
              <a:gd name="adj" fmla="val 22421"/>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71500" y="2600325"/>
            <a:ext cx="11601450" cy="485775"/>
          </a:xfrm>
          <a:prstGeom prst="rect">
            <a:avLst/>
          </a:prstGeom>
          <a:noFill/>
        </p:spPr>
        <p:txBody>
          <a:bodyPr wrap="square" lIns="0" tIns="0" rIns="0" bIns="0" anchor="ctr">
            <a:spAutoFit/>
          </a:bodyPr>
          <a:lstStyle/>
          <a:p>
            <a:pPr algn="l"/>
            <a:r>
              <a:rPr sz="2550" b="1" i="0" u="none">
                <a:solidFill>
                  <a:srgbClr val="0F172A"/>
                </a:solidFill>
                <a:latin typeface="Poppins"/>
              </a:rPr>
              <a:t>Core Workforce Metrics</a:t>
            </a:r>
          </a:p>
        </p:txBody>
      </p:sp>
      <p:sp>
        <p:nvSpPr>
          <p:cNvPr id="28" name="Rounded Rectangle 27"/>
          <p:cNvSpPr/>
          <p:nvPr/>
        </p:nvSpPr>
        <p:spPr>
          <a:xfrm>
            <a:off x="571500" y="3086100"/>
            <a:ext cx="57150" cy="30480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71500" y="1190625"/>
            <a:ext cx="11049000" cy="5191125"/>
          </a:xfrm>
          <a:prstGeom prst="rect">
            <a:avLst/>
          </a:prstGeom>
        </p:spPr>
      </p:pic>
      <p:sp>
        <p:nvSpPr>
          <p:cNvPr id="3" name="TextBox 2"/>
          <p:cNvSpPr txBox="1"/>
          <p:nvPr/>
        </p:nvSpPr>
        <p:spPr>
          <a:xfrm>
            <a:off x="571500" y="476250"/>
            <a:ext cx="11601450" cy="485775"/>
          </a:xfrm>
          <a:prstGeom prst="rect">
            <a:avLst/>
          </a:prstGeom>
          <a:noFill/>
        </p:spPr>
        <p:txBody>
          <a:bodyPr wrap="square" lIns="0" tIns="0" rIns="0" bIns="0" anchor="ctr">
            <a:spAutoFit/>
          </a:bodyPr>
          <a:lstStyle/>
          <a:p>
            <a:pPr algn="l"/>
            <a:r>
              <a:rPr sz="2550" b="1" i="0" u="none">
                <a:solidFill>
                  <a:srgbClr val="0F172A"/>
                </a:solidFill>
                <a:latin typeface="Poppins"/>
              </a:rPr>
              <a:t>Department Attrition Analysis</a:t>
            </a:r>
          </a:p>
        </p:txBody>
      </p:sp>
      <p:sp>
        <p:nvSpPr>
          <p:cNvPr id="4" name="Rounded Rectangle 3"/>
          <p:cNvSpPr/>
          <p:nvPr/>
        </p:nvSpPr>
        <p:spPr>
          <a:xfrm>
            <a:off x="571500" y="962025"/>
            <a:ext cx="57150" cy="30480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71500" y="4105275"/>
            <a:ext cx="3530500" cy="2276475"/>
          </a:xfrm>
          <a:prstGeom prst="rect">
            <a:avLst/>
          </a:prstGeom>
        </p:spPr>
      </p:pic>
      <p:pic>
        <p:nvPicPr>
          <p:cNvPr id="3" name="Picture 2" descr="image.png"/>
          <p:cNvPicPr>
            <a:picLocks noChangeAspect="1"/>
          </p:cNvPicPr>
          <p:nvPr/>
        </p:nvPicPr>
        <p:blipFill>
          <a:blip r:embed="rId3"/>
          <a:stretch>
            <a:fillRect/>
          </a:stretch>
        </p:blipFill>
        <p:spPr>
          <a:xfrm>
            <a:off x="4330600" y="4105275"/>
            <a:ext cx="3530649" cy="2276475"/>
          </a:xfrm>
          <a:prstGeom prst="rect">
            <a:avLst/>
          </a:prstGeom>
        </p:spPr>
      </p:pic>
      <p:pic>
        <p:nvPicPr>
          <p:cNvPr id="4" name="Picture 3" descr="image.png"/>
          <p:cNvPicPr>
            <a:picLocks noChangeAspect="1"/>
          </p:cNvPicPr>
          <p:nvPr/>
        </p:nvPicPr>
        <p:blipFill>
          <a:blip r:embed="rId4"/>
          <a:stretch>
            <a:fillRect/>
          </a:stretch>
        </p:blipFill>
        <p:spPr>
          <a:xfrm>
            <a:off x="8089850" y="4105275"/>
            <a:ext cx="3530500" cy="2276475"/>
          </a:xfrm>
          <a:prstGeom prst="rect">
            <a:avLst/>
          </a:prstGeom>
        </p:spPr>
      </p:pic>
      <p:pic>
        <p:nvPicPr>
          <p:cNvPr id="5" name="Picture 4" descr="image.png"/>
          <p:cNvPicPr>
            <a:picLocks noChangeAspect="1"/>
          </p:cNvPicPr>
          <p:nvPr/>
        </p:nvPicPr>
        <p:blipFill>
          <a:blip r:embed="rId5"/>
          <a:stretch>
            <a:fillRect/>
          </a:stretch>
        </p:blipFill>
        <p:spPr>
          <a:xfrm>
            <a:off x="809625" y="4400550"/>
            <a:ext cx="514350" cy="514350"/>
          </a:xfrm>
          <a:prstGeom prst="rect">
            <a:avLst/>
          </a:prstGeom>
        </p:spPr>
      </p:pic>
      <p:sp>
        <p:nvSpPr>
          <p:cNvPr id="6" name="TextBox 5"/>
          <p:cNvSpPr txBox="1"/>
          <p:nvPr/>
        </p:nvSpPr>
        <p:spPr>
          <a:xfrm>
            <a:off x="809625" y="5105400"/>
            <a:ext cx="1920240" cy="285750"/>
          </a:xfrm>
          <a:prstGeom prst="rect">
            <a:avLst/>
          </a:prstGeom>
          <a:noFill/>
        </p:spPr>
        <p:txBody>
          <a:bodyPr wrap="square" lIns="0" tIns="0" rIns="0" bIns="0" anchor="t">
            <a:spAutoFit/>
          </a:bodyPr>
          <a:lstStyle/>
          <a:p>
            <a:pPr algn="l"/>
            <a:r>
              <a:rPr sz="1500" b="0" i="0" u="none">
                <a:solidFill>
                  <a:srgbClr val="0F172A"/>
                </a:solidFill>
                <a:latin typeface="Poppins SemiBold"/>
              </a:rPr>
              <a:t>Overtime Catalyst</a:t>
            </a:r>
          </a:p>
        </p:txBody>
      </p:sp>
      <p:sp>
        <p:nvSpPr>
          <p:cNvPr id="7" name="TextBox 6"/>
          <p:cNvSpPr txBox="1"/>
          <p:nvPr/>
        </p:nvSpPr>
        <p:spPr>
          <a:xfrm>
            <a:off x="809625" y="5486400"/>
            <a:ext cx="3054250" cy="600075"/>
          </a:xfrm>
          <a:prstGeom prst="rect">
            <a:avLst/>
          </a:prstGeom>
          <a:noFill/>
        </p:spPr>
        <p:txBody>
          <a:bodyPr wrap="square" lIns="0" tIns="0" rIns="0" bIns="0" anchor="t">
            <a:spAutoFit/>
          </a:bodyPr>
          <a:lstStyle/>
          <a:p>
            <a:pPr algn="l">
              <a:lnSpc>
                <a:spcPts val="1575"/>
              </a:lnSpc>
            </a:pPr>
            <a:r>
              <a:rPr sz="1050" b="0" i="0" u="none">
                <a:solidFill>
                  <a:srgbClr val="64748B"/>
                </a:solidFill>
                <a:latin typeface="Inter"/>
              </a:rPr>
              <a:t>Employees regularly working overtime exhibit a significantly higher attrition rate compared to non-overtime staff.</a:t>
            </a:r>
          </a:p>
        </p:txBody>
      </p:sp>
      <p:pic>
        <p:nvPicPr>
          <p:cNvPr id="8" name="Picture 7" descr="image.png"/>
          <p:cNvPicPr>
            <a:picLocks noChangeAspect="1"/>
          </p:cNvPicPr>
          <p:nvPr/>
        </p:nvPicPr>
        <p:blipFill>
          <a:blip r:embed="rId6"/>
          <a:stretch>
            <a:fillRect/>
          </a:stretch>
        </p:blipFill>
        <p:spPr>
          <a:xfrm>
            <a:off x="4568725" y="4400550"/>
            <a:ext cx="514350" cy="514350"/>
          </a:xfrm>
          <a:prstGeom prst="rect">
            <a:avLst/>
          </a:prstGeom>
        </p:spPr>
      </p:pic>
      <p:sp>
        <p:nvSpPr>
          <p:cNvPr id="9" name="TextBox 8"/>
          <p:cNvSpPr txBox="1"/>
          <p:nvPr/>
        </p:nvSpPr>
        <p:spPr>
          <a:xfrm>
            <a:off x="4568725" y="5105400"/>
            <a:ext cx="2340292" cy="285750"/>
          </a:xfrm>
          <a:prstGeom prst="rect">
            <a:avLst/>
          </a:prstGeom>
          <a:noFill/>
        </p:spPr>
        <p:txBody>
          <a:bodyPr wrap="square" lIns="0" tIns="0" rIns="0" bIns="0" anchor="t">
            <a:spAutoFit/>
          </a:bodyPr>
          <a:lstStyle/>
          <a:p>
            <a:pPr algn="l"/>
            <a:r>
              <a:rPr sz="1500" b="0" i="0" u="none">
                <a:solidFill>
                  <a:srgbClr val="0F172A"/>
                </a:solidFill>
                <a:latin typeface="Poppins SemiBold"/>
              </a:rPr>
              <a:t>Income Premium Roles</a:t>
            </a:r>
          </a:p>
        </p:txBody>
      </p:sp>
      <p:sp>
        <p:nvSpPr>
          <p:cNvPr id="10" name="TextBox 9"/>
          <p:cNvSpPr txBox="1"/>
          <p:nvPr/>
        </p:nvSpPr>
        <p:spPr>
          <a:xfrm>
            <a:off x="4568725" y="5486400"/>
            <a:ext cx="3054399" cy="600075"/>
          </a:xfrm>
          <a:prstGeom prst="rect">
            <a:avLst/>
          </a:prstGeom>
          <a:noFill/>
        </p:spPr>
        <p:txBody>
          <a:bodyPr wrap="square" lIns="0" tIns="0" rIns="0" bIns="0" anchor="t">
            <a:spAutoFit/>
          </a:bodyPr>
          <a:lstStyle/>
          <a:p>
            <a:pPr algn="l">
              <a:lnSpc>
                <a:spcPts val="1575"/>
              </a:lnSpc>
            </a:pPr>
            <a:r>
              <a:rPr sz="1050" b="0" i="0" u="none">
                <a:solidFill>
                  <a:srgbClr val="64748B"/>
                </a:solidFill>
                <a:latin typeface="Inter"/>
              </a:rPr>
              <a:t>Managers and Research Directors command the highest average monthly income, aligning with senior responsibility.</a:t>
            </a:r>
          </a:p>
        </p:txBody>
      </p:sp>
      <p:pic>
        <p:nvPicPr>
          <p:cNvPr id="11" name="Picture 10" descr="image.png"/>
          <p:cNvPicPr>
            <a:picLocks noChangeAspect="1"/>
          </p:cNvPicPr>
          <p:nvPr/>
        </p:nvPicPr>
        <p:blipFill>
          <a:blip r:embed="rId7"/>
          <a:stretch>
            <a:fillRect/>
          </a:stretch>
        </p:blipFill>
        <p:spPr>
          <a:xfrm>
            <a:off x="8327975" y="4400550"/>
            <a:ext cx="514350" cy="514350"/>
          </a:xfrm>
          <a:prstGeom prst="rect">
            <a:avLst/>
          </a:prstGeom>
        </p:spPr>
      </p:pic>
      <p:sp>
        <p:nvSpPr>
          <p:cNvPr id="12" name="TextBox 11"/>
          <p:cNvSpPr txBox="1"/>
          <p:nvPr/>
        </p:nvSpPr>
        <p:spPr>
          <a:xfrm>
            <a:off x="8327975" y="5105400"/>
            <a:ext cx="1990248" cy="285750"/>
          </a:xfrm>
          <a:prstGeom prst="rect">
            <a:avLst/>
          </a:prstGeom>
          <a:noFill/>
        </p:spPr>
        <p:txBody>
          <a:bodyPr wrap="square" lIns="0" tIns="0" rIns="0" bIns="0" anchor="t">
            <a:spAutoFit/>
          </a:bodyPr>
          <a:lstStyle/>
          <a:p>
            <a:pPr algn="l"/>
            <a:r>
              <a:rPr sz="1500" b="0" i="0" u="none">
                <a:solidFill>
                  <a:srgbClr val="0F172A"/>
                </a:solidFill>
                <a:latin typeface="Poppins SemiBold"/>
              </a:rPr>
              <a:t>Engagement Driver</a:t>
            </a:r>
          </a:p>
        </p:txBody>
      </p:sp>
      <p:sp>
        <p:nvSpPr>
          <p:cNvPr id="13" name="TextBox 12"/>
          <p:cNvSpPr txBox="1"/>
          <p:nvPr/>
        </p:nvSpPr>
        <p:spPr>
          <a:xfrm>
            <a:off x="8327975" y="5486400"/>
            <a:ext cx="3054250" cy="600075"/>
          </a:xfrm>
          <a:prstGeom prst="rect">
            <a:avLst/>
          </a:prstGeom>
          <a:noFill/>
        </p:spPr>
        <p:txBody>
          <a:bodyPr wrap="square" lIns="0" tIns="0" rIns="0" bIns="0" anchor="t">
            <a:spAutoFit/>
          </a:bodyPr>
          <a:lstStyle/>
          <a:p>
            <a:pPr algn="l">
              <a:lnSpc>
                <a:spcPts val="1575"/>
              </a:lnSpc>
            </a:pPr>
            <a:r>
              <a:rPr sz="1050" b="0" i="0" u="none">
                <a:solidFill>
                  <a:srgbClr val="64748B"/>
                </a:solidFill>
                <a:latin typeface="Inter"/>
              </a:rPr>
              <a:t>Job satisfaction rating serves as a pivotal metric directly influencing employee long-term retention.</a:t>
            </a:r>
          </a:p>
        </p:txBody>
      </p:sp>
      <p:pic>
        <p:nvPicPr>
          <p:cNvPr id="14" name="Picture 13" descr="image.png"/>
          <p:cNvPicPr>
            <a:picLocks noChangeAspect="1"/>
          </p:cNvPicPr>
          <p:nvPr/>
        </p:nvPicPr>
        <p:blipFill>
          <a:blip r:embed="rId8"/>
          <a:stretch>
            <a:fillRect/>
          </a:stretch>
        </p:blipFill>
        <p:spPr>
          <a:xfrm>
            <a:off x="923925" y="4543425"/>
            <a:ext cx="285750" cy="228600"/>
          </a:xfrm>
          <a:prstGeom prst="rect">
            <a:avLst/>
          </a:prstGeom>
        </p:spPr>
      </p:pic>
      <p:pic>
        <p:nvPicPr>
          <p:cNvPr id="15" name="Picture 14" descr="image.png"/>
          <p:cNvPicPr>
            <a:picLocks noChangeAspect="1"/>
          </p:cNvPicPr>
          <p:nvPr/>
        </p:nvPicPr>
        <p:blipFill>
          <a:blip r:embed="rId9"/>
          <a:stretch>
            <a:fillRect/>
          </a:stretch>
        </p:blipFill>
        <p:spPr>
          <a:xfrm>
            <a:off x="4697313" y="4543425"/>
            <a:ext cx="257175" cy="228600"/>
          </a:xfrm>
          <a:prstGeom prst="rect">
            <a:avLst/>
          </a:prstGeom>
        </p:spPr>
      </p:pic>
      <p:pic>
        <p:nvPicPr>
          <p:cNvPr id="16" name="Picture 15" descr="image.png"/>
          <p:cNvPicPr>
            <a:picLocks noChangeAspect="1"/>
          </p:cNvPicPr>
          <p:nvPr/>
        </p:nvPicPr>
        <p:blipFill>
          <a:blip r:embed="rId10"/>
          <a:stretch>
            <a:fillRect/>
          </a:stretch>
        </p:blipFill>
        <p:spPr>
          <a:xfrm>
            <a:off x="8470850" y="4543425"/>
            <a:ext cx="228600" cy="228600"/>
          </a:xfrm>
          <a:prstGeom prst="rect">
            <a:avLst/>
          </a:prstGeom>
        </p:spPr>
      </p:pic>
      <p:sp>
        <p:nvSpPr>
          <p:cNvPr id="17" name="Rounded Rectangle 16"/>
          <p:cNvSpPr/>
          <p:nvPr/>
        </p:nvSpPr>
        <p:spPr>
          <a:xfrm>
            <a:off x="-190500" y="1238250"/>
            <a:ext cx="3048000" cy="2914650"/>
          </a:xfrm>
          <a:prstGeom prst="roundRect">
            <a:avLst>
              <a:gd name="adj" fmla="val 50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71500" y="3390900"/>
            <a:ext cx="11601450" cy="485775"/>
          </a:xfrm>
          <a:prstGeom prst="rect">
            <a:avLst/>
          </a:prstGeom>
          <a:noFill/>
        </p:spPr>
        <p:txBody>
          <a:bodyPr wrap="square" lIns="0" tIns="0" rIns="0" bIns="0" anchor="ctr">
            <a:spAutoFit/>
          </a:bodyPr>
          <a:lstStyle/>
          <a:p>
            <a:pPr algn="l"/>
            <a:r>
              <a:rPr sz="2550" b="1" i="0" u="none">
                <a:solidFill>
                  <a:srgbClr val="0F172A"/>
                </a:solidFill>
                <a:latin typeface="Poppins"/>
              </a:rPr>
              <a:t>Key Workforce Insights</a:t>
            </a:r>
          </a:p>
        </p:txBody>
      </p:sp>
      <p:sp>
        <p:nvSpPr>
          <p:cNvPr id="19" name="Rounded Rectangle 18"/>
          <p:cNvSpPr/>
          <p:nvPr/>
        </p:nvSpPr>
        <p:spPr>
          <a:xfrm>
            <a:off x="571500" y="3876675"/>
            <a:ext cx="57150" cy="30480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71500" y="2443162"/>
            <a:ext cx="11049000" cy="2686050"/>
          </a:xfrm>
          <a:prstGeom prst="rect">
            <a:avLst/>
          </a:prstGeom>
        </p:spPr>
      </p:pic>
      <p:graphicFrame>
        <p:nvGraphicFramePr>
          <p:cNvPr id="3" name="Table 2"/>
          <p:cNvGraphicFramePr>
            <a:graphicFrameLocks noGrp="1"/>
          </p:cNvGraphicFramePr>
          <p:nvPr/>
        </p:nvGraphicFramePr>
        <p:xfrm>
          <a:off x="581025" y="2452687"/>
          <a:ext cx="11029948" cy="2667000"/>
        </p:xfrm>
        <a:graphic>
          <a:graphicData uri="http://schemas.openxmlformats.org/drawingml/2006/table">
            <a:tbl>
              <a:tblPr firstRow="1" bandRow="1">
                <a:tableStyleId>{5C22544A-7EE6-4342-B048-85BDC9FD1C3A}</a:tableStyleId>
              </a:tblPr>
              <a:tblGrid>
                <a:gridCol w="2415182">
                  <a:extLst>
                    <a:ext uri="{9D8B030D-6E8A-4147-A177-3AD203B41FA5}">
                      <a16:colId xmlns:a16="http://schemas.microsoft.com/office/drawing/2014/main" val="20000"/>
                    </a:ext>
                  </a:extLst>
                </a:gridCol>
                <a:gridCol w="6091832">
                  <a:extLst>
                    <a:ext uri="{9D8B030D-6E8A-4147-A177-3AD203B41FA5}">
                      <a16:colId xmlns:a16="http://schemas.microsoft.com/office/drawing/2014/main" val="20001"/>
                    </a:ext>
                  </a:extLst>
                </a:gridCol>
                <a:gridCol w="2522934">
                  <a:extLst>
                    <a:ext uri="{9D8B030D-6E8A-4147-A177-3AD203B41FA5}">
                      <a16:colId xmlns:a16="http://schemas.microsoft.com/office/drawing/2014/main" val="20002"/>
                    </a:ext>
                  </a:extLst>
                </a:gridCol>
              </a:tblGrid>
              <a:tr h="533400">
                <a:tc>
                  <a:txBody>
                    <a:bodyPr/>
                    <a:lstStyle/>
                    <a:p>
                      <a:pPr algn="l"/>
                      <a:r>
                        <a:rPr sz="1125" b="0" i="0" u="none">
                          <a:solidFill>
                            <a:srgbClr val="0F172A"/>
                          </a:solidFill>
                          <a:latin typeface="Poppins SemiBold"/>
                        </a:rPr>
                        <a:t>Component Type</a:t>
                      </a:r>
                    </a:p>
                  </a:txBody>
                  <a:tcPr marL="63500" marR="63500" marT="25400" marB="25400" anchor="ctr">
                    <a:lnL>
                      <a:noFill/>
                    </a:lnL>
                    <a:lnR>
                      <a:noFill/>
                    </a:lnR>
                    <a:lnT>
                      <a:noFill/>
                    </a:lnT>
                    <a:lnB>
                      <a:noFill/>
                    </a:lnB>
                    <a:solidFill>
                      <a:srgbClr val="F1F5F9"/>
                    </a:solidFill>
                  </a:tcPr>
                </a:tc>
                <a:tc>
                  <a:txBody>
                    <a:bodyPr/>
                    <a:lstStyle/>
                    <a:p>
                      <a:pPr algn="l"/>
                      <a:r>
                        <a:rPr sz="1125" b="0" i="0" u="none">
                          <a:solidFill>
                            <a:srgbClr val="0F172A"/>
                          </a:solidFill>
                          <a:latin typeface="Poppins SemiBold"/>
                        </a:rPr>
                        <a:t>Metrics / Visual Elements</a:t>
                      </a:r>
                    </a:p>
                  </a:txBody>
                  <a:tcPr marL="63500" marR="63500" marT="25400" marB="25400" anchor="ctr">
                    <a:lnL>
                      <a:noFill/>
                    </a:lnL>
                    <a:lnR>
                      <a:noFill/>
                    </a:lnR>
                    <a:lnT>
                      <a:noFill/>
                    </a:lnT>
                    <a:lnB>
                      <a:noFill/>
                    </a:lnB>
                    <a:solidFill>
                      <a:srgbClr val="F1F5F9"/>
                    </a:solidFill>
                  </a:tcPr>
                </a:tc>
                <a:tc>
                  <a:txBody>
                    <a:bodyPr/>
                    <a:lstStyle/>
                    <a:p>
                      <a:pPr algn="l"/>
                      <a:r>
                        <a:rPr sz="1125" b="0" i="0" u="none">
                          <a:solidFill>
                            <a:srgbClr val="0F172A"/>
                          </a:solidFill>
                          <a:latin typeface="Poppins SemiBold"/>
                        </a:rPr>
                        <a:t>Strategic Value</a:t>
                      </a:r>
                    </a:p>
                  </a:txBody>
                  <a:tcPr marL="63500" marR="63500" marT="25400" marB="25400" anchor="ctr">
                    <a:lnL>
                      <a:noFill/>
                    </a:lnL>
                    <a:lnR>
                      <a:noFill/>
                    </a:lnR>
                    <a:lnT>
                      <a:noFill/>
                    </a:lnT>
                    <a:lnB>
                      <a:noFill/>
                    </a:lnB>
                    <a:solidFill>
                      <a:srgbClr val="F1F5F9"/>
                    </a:solidFill>
                  </a:tcPr>
                </a:tc>
                <a:extLst>
                  <a:ext uri="{0D108BD9-81ED-4DB2-BD59-A6C34878D82A}">
                    <a16:rowId xmlns:a16="http://schemas.microsoft.com/office/drawing/2014/main" val="10000"/>
                  </a:ext>
                </a:extLst>
              </a:tr>
              <a:tr h="533400">
                <a:tc>
                  <a:txBody>
                    <a:bodyPr/>
                    <a:lstStyle/>
                    <a:p>
                      <a:pPr algn="l"/>
                      <a:r>
                        <a:rPr sz="1050" b="1" i="0" u="none">
                          <a:solidFill>
                            <a:srgbClr val="475569"/>
                          </a:solidFill>
                          <a:latin typeface="Inter"/>
                        </a:rPr>
                        <a:t>KPI Cards</a:t>
                      </a:r>
                    </a:p>
                  </a:txBody>
                  <a:tcPr marL="63500" marR="63500" marT="25400" marB="25400" anchor="ctr">
                    <a:lnL>
                      <a:noFill/>
                    </a:lnL>
                    <a:lnR>
                      <a:noFill/>
                    </a:lnR>
                    <a:lnT>
                      <a:noFill/>
                    </a:lnT>
                    <a:lnB>
                      <a:noFill/>
                    </a:lnB>
                    <a:noFill/>
                  </a:tcPr>
                </a:tc>
                <a:tc>
                  <a:txBody>
                    <a:bodyPr/>
                    <a:lstStyle/>
                    <a:p>
                      <a:pPr algn="l"/>
                      <a:r>
                        <a:rPr sz="1050" b="0" i="0" u="none">
                          <a:solidFill>
                            <a:srgbClr val="475569"/>
                          </a:solidFill>
                          <a:latin typeface="Inter"/>
                        </a:rPr>
                        <a:t>Headcount, Attrition Rate, Avg Age, Avg Salary, Satisfaction</a:t>
                      </a:r>
                    </a:p>
                  </a:txBody>
                  <a:tcPr marL="63500" marR="63500" marT="25400" marB="25400" anchor="ctr">
                    <a:lnL>
                      <a:noFill/>
                    </a:lnL>
                    <a:lnR>
                      <a:noFill/>
                    </a:lnR>
                    <a:lnT>
                      <a:noFill/>
                    </a:lnT>
                    <a:lnB>
                      <a:noFill/>
                    </a:lnB>
                    <a:noFill/>
                  </a:tcPr>
                </a:tc>
                <a:tc>
                  <a:txBody>
                    <a:bodyPr/>
                    <a:lstStyle/>
                    <a:p>
                      <a:pPr algn="l"/>
                      <a:r>
                        <a:rPr sz="1050" b="0" i="0" u="none" dirty="0">
                          <a:solidFill>
                            <a:srgbClr val="475569"/>
                          </a:solidFill>
                          <a:latin typeface="Inter"/>
                        </a:rPr>
                        <a:t>Executive Summary</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533400">
                <a:tc>
                  <a:txBody>
                    <a:bodyPr/>
                    <a:lstStyle/>
                    <a:p>
                      <a:pPr algn="l"/>
                      <a:r>
                        <a:rPr sz="1050" b="1" i="0" u="none">
                          <a:solidFill>
                            <a:srgbClr val="475569"/>
                          </a:solidFill>
                          <a:latin typeface="Inter"/>
                        </a:rPr>
                        <a:t>Breakdown Charts</a:t>
                      </a:r>
                    </a:p>
                  </a:txBody>
                  <a:tcPr marL="63500" marR="63500" marT="25400" marB="25400" anchor="ctr">
                    <a:lnL>
                      <a:noFill/>
                    </a:lnL>
                    <a:lnR>
                      <a:noFill/>
                    </a:lnR>
                    <a:lnT>
                      <a:noFill/>
                    </a:lnT>
                    <a:lnB>
                      <a:noFill/>
                    </a:lnB>
                    <a:noFill/>
                  </a:tcPr>
                </a:tc>
                <a:tc>
                  <a:txBody>
                    <a:bodyPr/>
                    <a:lstStyle/>
                    <a:p>
                      <a:pPr algn="l"/>
                      <a:r>
                        <a:rPr sz="1050" b="0" i="0" u="none">
                          <a:solidFill>
                            <a:srgbClr val="475569"/>
                          </a:solidFill>
                          <a:latin typeface="Inter"/>
                        </a:rPr>
                        <a:t>Attrition by Dept, Job Role, Overtime &amp; Satisfaction Distribution</a:t>
                      </a:r>
                    </a:p>
                  </a:txBody>
                  <a:tcPr marL="63500" marR="63500" marT="25400" marB="25400" anchor="ctr">
                    <a:lnL>
                      <a:noFill/>
                    </a:lnL>
                    <a:lnR>
                      <a:noFill/>
                    </a:lnR>
                    <a:lnT>
                      <a:noFill/>
                    </a:lnT>
                    <a:lnB>
                      <a:noFill/>
                    </a:lnB>
                    <a:noFill/>
                  </a:tcPr>
                </a:tc>
                <a:tc>
                  <a:txBody>
                    <a:bodyPr/>
                    <a:lstStyle/>
                    <a:p>
                      <a:pPr algn="l"/>
                      <a:r>
                        <a:rPr sz="1050" b="0" i="0" u="none">
                          <a:solidFill>
                            <a:srgbClr val="475569"/>
                          </a:solidFill>
                          <a:latin typeface="Inter"/>
                        </a:rPr>
                        <a:t>Pattern Identification</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2"/>
                  </a:ext>
                </a:extLst>
              </a:tr>
              <a:tr h="533400">
                <a:tc>
                  <a:txBody>
                    <a:bodyPr/>
                    <a:lstStyle/>
                    <a:p>
                      <a:pPr algn="l"/>
                      <a:r>
                        <a:rPr sz="1050" b="1" i="0" u="none">
                          <a:solidFill>
                            <a:srgbClr val="475569"/>
                          </a:solidFill>
                          <a:latin typeface="Inter"/>
                        </a:rPr>
                        <a:t>Salary Analysis</a:t>
                      </a:r>
                    </a:p>
                  </a:txBody>
                  <a:tcPr marL="63500" marR="63500" marT="25400" marB="25400" anchor="ctr">
                    <a:lnL>
                      <a:noFill/>
                    </a:lnL>
                    <a:lnR>
                      <a:noFill/>
                    </a:lnR>
                    <a:lnT>
                      <a:noFill/>
                    </a:lnT>
                    <a:lnB>
                      <a:noFill/>
                    </a:lnB>
                    <a:noFill/>
                  </a:tcPr>
                </a:tc>
                <a:tc>
                  <a:txBody>
                    <a:bodyPr/>
                    <a:lstStyle/>
                    <a:p>
                      <a:pPr algn="l"/>
                      <a:r>
                        <a:rPr sz="1050" b="0" i="0" u="none">
                          <a:solidFill>
                            <a:srgbClr val="475569"/>
                          </a:solidFill>
                          <a:latin typeface="Inter"/>
                        </a:rPr>
                        <a:t>Average Monthly Income grouped by Job Role</a:t>
                      </a:r>
                    </a:p>
                  </a:txBody>
                  <a:tcPr marL="63500" marR="63500" marT="25400" marB="25400" anchor="ctr">
                    <a:lnL>
                      <a:noFill/>
                    </a:lnL>
                    <a:lnR>
                      <a:noFill/>
                    </a:lnR>
                    <a:lnT>
                      <a:noFill/>
                    </a:lnT>
                    <a:lnB>
                      <a:noFill/>
                    </a:lnB>
                    <a:noFill/>
                  </a:tcPr>
                </a:tc>
                <a:tc>
                  <a:txBody>
                    <a:bodyPr/>
                    <a:lstStyle/>
                    <a:p>
                      <a:pPr algn="l"/>
                      <a:r>
                        <a:rPr sz="1050" b="0" i="0" u="none">
                          <a:solidFill>
                            <a:srgbClr val="475569"/>
                          </a:solidFill>
                          <a:latin typeface="Inter"/>
                        </a:rPr>
                        <a:t>Compensation Review</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533400">
                <a:tc>
                  <a:txBody>
                    <a:bodyPr/>
                    <a:lstStyle/>
                    <a:p>
                      <a:pPr algn="l"/>
                      <a:r>
                        <a:rPr sz="1050" b="1" i="0" u="none">
                          <a:solidFill>
                            <a:srgbClr val="475569"/>
                          </a:solidFill>
                          <a:latin typeface="Inter"/>
                        </a:rPr>
                        <a:t>Interactive Slicers</a:t>
                      </a:r>
                    </a:p>
                  </a:txBody>
                  <a:tcPr marL="63500" marR="63500" marT="25400" marB="25400" anchor="ctr">
                    <a:lnL>
                      <a:noFill/>
                    </a:lnL>
                    <a:lnR>
                      <a:noFill/>
                    </a:lnR>
                    <a:lnT>
                      <a:noFill/>
                    </a:lnT>
                    <a:lnB>
                      <a:noFill/>
                    </a:lnB>
                    <a:noFill/>
                  </a:tcPr>
                </a:tc>
                <a:tc>
                  <a:txBody>
                    <a:bodyPr/>
                    <a:lstStyle/>
                    <a:p>
                      <a:pPr algn="l"/>
                      <a:r>
                        <a:rPr sz="1050" b="0" i="0" u="none">
                          <a:solidFill>
                            <a:srgbClr val="475569"/>
                          </a:solidFill>
                          <a:latin typeface="Inter"/>
                        </a:rPr>
                        <a:t>Department, Gender, Overtime, Marital Status</a:t>
                      </a:r>
                    </a:p>
                  </a:txBody>
                  <a:tcPr marL="63500" marR="63500" marT="25400" marB="25400" anchor="ctr">
                    <a:lnL>
                      <a:noFill/>
                    </a:lnL>
                    <a:lnR>
                      <a:noFill/>
                    </a:lnR>
                    <a:lnT>
                      <a:noFill/>
                    </a:lnT>
                    <a:lnB>
                      <a:noFill/>
                    </a:lnB>
                    <a:noFill/>
                  </a:tcPr>
                </a:tc>
                <a:tc>
                  <a:txBody>
                    <a:bodyPr/>
                    <a:lstStyle/>
                    <a:p>
                      <a:pPr algn="l"/>
                      <a:r>
                        <a:rPr sz="1050" b="0" i="0" u="none" dirty="0">
                          <a:solidFill>
                            <a:srgbClr val="475569"/>
                          </a:solidFill>
                          <a:latin typeface="Inter"/>
                        </a:rPr>
                        <a:t>Ad-hoc Filtering</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581025" y="2967037"/>
            <a:ext cx="2415182"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996207" y="2967037"/>
            <a:ext cx="6091832"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088040" y="2967037"/>
            <a:ext cx="2522934"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81025" y="3514725"/>
            <a:ext cx="2415182"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996207" y="3514725"/>
            <a:ext cx="6091832"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088040" y="3514725"/>
            <a:ext cx="2522934"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81025" y="4048125"/>
            <a:ext cx="2415182"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996207" y="4048125"/>
            <a:ext cx="6091832"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088040" y="4048125"/>
            <a:ext cx="2522934"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81025" y="4581525"/>
            <a:ext cx="2415182"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996207" y="4581525"/>
            <a:ext cx="6091832"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088040" y="4581525"/>
            <a:ext cx="2522934"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1500" y="476250"/>
            <a:ext cx="11601450" cy="485775"/>
          </a:xfrm>
          <a:prstGeom prst="rect">
            <a:avLst/>
          </a:prstGeom>
          <a:noFill/>
        </p:spPr>
        <p:txBody>
          <a:bodyPr wrap="square" lIns="0" tIns="0" rIns="0" bIns="0" anchor="ctr">
            <a:spAutoFit/>
          </a:bodyPr>
          <a:lstStyle/>
          <a:p>
            <a:pPr algn="l"/>
            <a:r>
              <a:rPr sz="2550" b="1" i="0" u="none">
                <a:solidFill>
                  <a:srgbClr val="0F172A"/>
                </a:solidFill>
                <a:latin typeface="Poppins"/>
              </a:rPr>
              <a:t>Dashboard Architecture</a:t>
            </a:r>
          </a:p>
        </p:txBody>
      </p:sp>
      <p:sp>
        <p:nvSpPr>
          <p:cNvPr id="21" name="Rounded Rectangle 20"/>
          <p:cNvSpPr/>
          <p:nvPr/>
        </p:nvSpPr>
        <p:spPr>
          <a:xfrm>
            <a:off x="571500" y="962025"/>
            <a:ext cx="57150" cy="30480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809750" y="3006179"/>
            <a:ext cx="8572500" cy="3375570"/>
          </a:xfrm>
          <a:prstGeom prst="rect">
            <a:avLst/>
          </a:prstGeom>
        </p:spPr>
      </p:pic>
      <p:pic>
        <p:nvPicPr>
          <p:cNvPr id="3" name="Picture 2" descr="image.png"/>
          <p:cNvPicPr>
            <a:picLocks noChangeAspect="1"/>
          </p:cNvPicPr>
          <p:nvPr/>
        </p:nvPicPr>
        <p:blipFill>
          <a:blip r:embed="rId3"/>
          <a:stretch>
            <a:fillRect/>
          </a:stretch>
        </p:blipFill>
        <p:spPr>
          <a:xfrm>
            <a:off x="5231606" y="3396704"/>
            <a:ext cx="1728787" cy="333375"/>
          </a:xfrm>
          <a:prstGeom prst="rect">
            <a:avLst/>
          </a:prstGeom>
        </p:spPr>
      </p:pic>
      <p:sp>
        <p:nvSpPr>
          <p:cNvPr id="4" name="TextBox 3"/>
          <p:cNvSpPr txBox="1"/>
          <p:nvPr/>
        </p:nvSpPr>
        <p:spPr>
          <a:xfrm>
            <a:off x="2005488" y="3882479"/>
            <a:ext cx="8181022" cy="400050"/>
          </a:xfrm>
          <a:prstGeom prst="rect">
            <a:avLst/>
          </a:prstGeom>
          <a:noFill/>
        </p:spPr>
        <p:txBody>
          <a:bodyPr wrap="square" lIns="0" tIns="0" rIns="0" bIns="0" anchor="t">
            <a:spAutoFit/>
          </a:bodyPr>
          <a:lstStyle/>
          <a:p>
            <a:pPr algn="ctr"/>
            <a:r>
              <a:rPr sz="2100" b="1" i="0" u="none">
                <a:solidFill>
                  <a:srgbClr val="0F172A"/>
                </a:solidFill>
                <a:latin typeface="Poppins"/>
              </a:rPr>
              <a:t>Empowering Data-Driven HR Decisions</a:t>
            </a:r>
          </a:p>
        </p:txBody>
      </p:sp>
      <p:sp>
        <p:nvSpPr>
          <p:cNvPr id="5" name="TextBox 4"/>
          <p:cNvSpPr txBox="1"/>
          <p:nvPr/>
        </p:nvSpPr>
        <p:spPr>
          <a:xfrm>
            <a:off x="2200275" y="4434929"/>
            <a:ext cx="7791450" cy="822870"/>
          </a:xfrm>
          <a:prstGeom prst="rect">
            <a:avLst/>
          </a:prstGeom>
          <a:noFill/>
        </p:spPr>
        <p:txBody>
          <a:bodyPr wrap="square" lIns="0" tIns="0" rIns="0" bIns="0" anchor="t">
            <a:spAutoFit/>
          </a:bodyPr>
          <a:lstStyle/>
          <a:p>
            <a:pPr algn="ctr">
              <a:lnSpc>
                <a:spcPts val="2160"/>
              </a:lnSpc>
            </a:pPr>
            <a:r>
              <a:rPr sz="1350" b="0" i="0" u="none">
                <a:solidFill>
                  <a:srgbClr val="475569"/>
                </a:solidFill>
                <a:latin typeface="Inter"/>
              </a:rPr>
              <a:t>The HR Analytics Dashboard turns raw employee data into strategic clarity. By highlighting attrition drivers, salary structures, and overtime burdens, HR leaders can take proactive measures to retain top talent and cultivate a healthier work environment.</a:t>
            </a:r>
          </a:p>
        </p:txBody>
      </p:sp>
      <p:sp>
        <p:nvSpPr>
          <p:cNvPr id="12" name="Rounded Rectangle 11"/>
          <p:cNvSpPr/>
          <p:nvPr/>
        </p:nvSpPr>
        <p:spPr>
          <a:xfrm>
            <a:off x="1524000" y="-476250"/>
            <a:ext cx="3619500" cy="1373385"/>
          </a:xfrm>
          <a:prstGeom prst="roundRect">
            <a:avLst>
              <a:gd name="adj" fmla="val 34677"/>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90500" y="2611635"/>
            <a:ext cx="3048000" cy="1156543"/>
          </a:xfrm>
          <a:prstGeom prst="roundRect">
            <a:avLst>
              <a:gd name="adj" fmla="val 41178"/>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484</Words>
  <Application>Microsoft Office PowerPoint</Application>
  <PresentationFormat>Widescreen</PresentationFormat>
  <Paragraphs>78</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Inter</vt:lpstr>
      <vt:lpstr>Inter SemiBold</vt:lpstr>
      <vt:lpstr>Poppins</vt:lpstr>
      <vt:lpstr>Poppins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Harshavardhan Patil</dc:creator>
  <cp:keywords/>
  <dc:description>generated using python-pptx</dc:description>
  <cp:lastModifiedBy>Harshavardhan Patil</cp:lastModifiedBy>
  <cp:revision>2</cp:revision>
  <dcterms:created xsi:type="dcterms:W3CDTF">2013-01-27T09:14:16Z</dcterms:created>
  <dcterms:modified xsi:type="dcterms:W3CDTF">2026-07-28T05:36:06Z</dcterms:modified>
  <cp:category/>
</cp:coreProperties>
</file>